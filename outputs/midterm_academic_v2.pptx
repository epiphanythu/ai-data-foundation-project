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1" r:id="rId8"/>
    <p:sldId id="262" r:id="rId9"/>
    <p:sldId id="263" r:id="rId10"/>
    <p:sldId id="260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" Type="http://schemas.openxmlformats.org/officeDocument/2006/relationships/theme" Target="theme/theme1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" Type="http://schemas.openxmlformats.org/officeDocument/2006/relationships/slide" Target="slides/slide1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6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81f4b20-8b06-42c3-b805-f654d4e419a3_t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3" name="Text 1"/>
          <p:cNvSpPr/>
          <p:nvPr/>
        </p:nvSpPr>
        <p:spPr>
          <a:xfrm>
            <a:off x="914400" y="1645920"/>
            <a:ext cx="73152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基于多源数据的个人贷款违约风险检测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2560320"/>
            <a:ext cx="7315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E75B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中期汇报 | 多源数据融合与可解释风险分析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5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数据科学课程项目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384048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汇报人：肖玮鹏、</a:t>
            </a:r>
            <a:r>
              <a:rPr lang="zh-CN" altLang="en-US" sz="1600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张逸</a:t>
            </a:r>
            <a:r>
              <a:rPr lang="zh-CN" altLang="en-US" sz="1600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帆</a:t>
            </a:r>
            <a:endParaRPr lang="zh-CN" altLang="en-US" sz="1600" dirty="0">
              <a:solidFill>
                <a:srgbClr val="1F4E79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14400" y="420624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2026年5月21日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研究动机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200400" y="3200400"/>
            <a:ext cx="2743200" cy="45720"/>
          </a:xfrm>
          <a:prstGeom prst="rect">
            <a:avLst/>
          </a:prstGeom>
          <a:solidFill>
            <a:srgbClr val="FFFFFF"/>
          </a:solid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核心问题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7863840" cy="1371600"/>
          </a:xfrm>
          <a:prstGeom prst="rect">
            <a:avLst/>
          </a:prstGeom>
          <a:solidFill>
            <a:srgbClr val="D9E1F2"/>
          </a:solidFill>
          <a:ln w="254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280160"/>
            <a:ext cx="73152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800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如果两个人收入相同、信用评分相同，一个住在密西西比州，一个住在加州；一个在2008年贷款，一个在2015年贷款；他们的违约风险会一样吗？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5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同样收入和信用评分的人，在不同地区违约风险相同吗？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3291840"/>
            <a:ext cx="7315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5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不同经济周期（如2008金融危机vs2015年）下风险有何差异？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5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传统模型只看个人特征，忽略了地区经济和宏观周期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研究价值：兼顾科学意义与实际应用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3840480" cy="3840480"/>
          </a:xfrm>
          <a:prstGeom prst="rect">
            <a:avLst/>
          </a:prstGeom>
          <a:solidFill>
            <a:srgbClr val="D9E1F2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43000"/>
            <a:ext cx="3474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科学意义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600200"/>
            <a:ext cx="34747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验证三层风险模型：违约风险 = 个人特征 + 地区经济 + 宏观周期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34747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回答"地区经济和宏观环境是否独立影响个人违约风险"的学术问题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971800"/>
            <a:ext cx="34747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为多源数据融合提供方法论基础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3840480" cy="3840480"/>
          </a:xfrm>
          <a:prstGeom prst="rect">
            <a:avLst/>
          </a:prstGeom>
          <a:solidFill>
            <a:srgbClr val="FFF4E6"/>
          </a:solidFill>
          <a:ln w="12700">
            <a:solidFill>
              <a:srgbClr val="E6AA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143000"/>
            <a:ext cx="3474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实际价值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937760" y="1600200"/>
            <a:ext cx="34747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帮助金融机构降低坏账损失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2286000"/>
            <a:ext cx="34747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改善风险定价公平性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2971800"/>
            <a:ext cx="34747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为借款人提供更合理的信用定价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相关工作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200400" y="3200400"/>
            <a:ext cx="2743200" cy="45720"/>
          </a:xfrm>
          <a:prstGeom prst="rect">
            <a:avLst/>
          </a:prstGeom>
          <a:solidFill>
            <a:srgbClr val="FFFFFF"/>
          </a:solid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三类现有方法各有优势，但均存在明显局限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640080" y="1051560"/>
          <a:ext cx="78638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011680"/>
                <a:gridCol w="2103120"/>
                <a:gridCol w="2103120"/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方法类型</a:t>
                      </a:r>
                      <a:endParaRPr lang="en-US" sz="13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代表技术</a:t>
                      </a:r>
                      <a:endParaRPr lang="en-US" sz="13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优点</a:t>
                      </a:r>
                      <a:endParaRPr lang="en-US" sz="13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局限</a:t>
                      </a:r>
                      <a:endParaRPr lang="en-US" sz="13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传统信用评分</a:t>
                      </a:r>
                      <a:endParaRPr lang="en-US" sz="13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FICO、收入、负债率</a:t>
                      </a:r>
                      <a:endParaRPr lang="en-US" sz="13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解释性强，易于理解</a:t>
                      </a:r>
                      <a:endParaRPr lang="en-US" sz="13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只看个人，忽略环境和周期</a:t>
                      </a:r>
                      <a:endParaRPr lang="en-US" sz="13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机器学习预测</a:t>
                      </a:r>
                      <a:endParaRPr lang="en-US" sz="13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LR、RF、XGBoost、神经网络</a:t>
                      </a:r>
                      <a:endParaRPr lang="en-US" sz="13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预测能力强，准确率高</a:t>
                      </a:r>
                      <a:endParaRPr lang="en-US" sz="13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黑盒化，缺乏可解释性</a:t>
                      </a:r>
                      <a:endParaRPr lang="en-US" sz="13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多源风险分析</a:t>
                      </a:r>
                      <a:endParaRPr lang="en-US" sz="13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地区收入、失业率、利率</a:t>
                      </a:r>
                      <a:endParaRPr lang="en-US" sz="13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视角全面，贴近实际</a:t>
                      </a:r>
                      <a:endParaRPr lang="en-US" sz="13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数据对齐困难，缺乏控制变量分析</a:t>
                      </a:r>
                      <a:endParaRPr lang="en-US" sz="13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本研究定位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7863840" cy="3840480"/>
          </a:xfrm>
          <a:prstGeom prst="rect">
            <a:avLst/>
          </a:prstGeom>
          <a:solidFill>
            <a:srgbClr val="D9E1F2"/>
          </a:solidFill>
          <a:ln w="254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280160"/>
            <a:ext cx="73152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 不是取代传统方法，而是补充地区经济和宏观周期维度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 先做好数据清洗、融合、可解释统计分析，再考虑预测模型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3291840"/>
            <a:ext cx="73152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 强调多源数据的增量价值和可解释洞察，而非单纯追求预测准确率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三大技术挑战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7863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50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挑战一：数据规模大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78638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Lending Club 2.8GB CSV文件，226万条记录，151个字段，一次性读取导致内存溢出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7863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50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挑战二：标签复杂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78638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贷款状态有10多种（Fully Paid, Charged Off, Current, Late...），未完结状态无法判断最终违约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520440"/>
            <a:ext cx="7863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50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挑战三：多源数据粒度不一致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886200"/>
            <a:ext cx="78638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个人级别贷款数据 + 50州级平均数据 + 国家宏观时间序列，如何有效融合？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数据与方法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200400" y="3200400"/>
            <a:ext cx="2743200" cy="45720"/>
          </a:xfrm>
          <a:prstGeom prst="rect">
            <a:avLst/>
          </a:prstGeom>
          <a:solidFill>
            <a:srgbClr val="FFFFFF"/>
          </a:solid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四源数据融合：覆盖个人、州级、宏观三个维度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3840480" cy="1097280"/>
          </a:xfrm>
          <a:prstGeom prst="rect">
            <a:avLst/>
          </a:prstGeom>
          <a:solidFill>
            <a:srgbClr val="D9E1F2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88720"/>
            <a:ext cx="3474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✅ Lending Club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34747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226万条，151字段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个体贷款记录、违约标签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51560"/>
            <a:ext cx="3840480" cy="1097280"/>
          </a:xfrm>
          <a:prstGeom prst="rect">
            <a:avLst/>
          </a:prstGeom>
          <a:solidFill>
            <a:srgbClr val="FFF4E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188720"/>
            <a:ext cx="3474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✅ FRED 宏观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937760" y="1554480"/>
            <a:ext cx="34747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47季度，3指标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联邦基金利率、CPI、失业率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3840480" cy="1097280"/>
          </a:xfrm>
          <a:prstGeom prst="rect">
            <a:avLst/>
          </a:prstGeom>
          <a:solidFill>
            <a:srgbClr val="D9E1F2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468880"/>
            <a:ext cx="3474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✅ USDA ERS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2834640"/>
            <a:ext cx="34747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50州，3指标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州级收入、贫困率、失业率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2331720"/>
            <a:ext cx="3840480" cy="1097280"/>
          </a:xfrm>
          <a:prstGeom prst="rect">
            <a:avLst/>
          </a:prstGeom>
          <a:solidFill>
            <a:srgbClr val="FFF4E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2468880"/>
            <a:ext cx="3474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✅ Home Credit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37760" y="2834640"/>
            <a:ext cx="34747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30万条，122字段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补充信贷场景对照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数据融合成果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26517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050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1,367,578 条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2651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已完结样本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2651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5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排除Current等未完结状态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474720" y="1188720"/>
            <a:ext cx="26517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050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50 个州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474720" y="1783080"/>
            <a:ext cx="2651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州级覆盖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74720" y="2148840"/>
            <a:ext cx="2651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5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完整州级匹配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09360" y="1188720"/>
            <a:ext cx="26517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050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47 季度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309360" y="1783080"/>
            <a:ext cx="2651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时间跨度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09360" y="2148840"/>
            <a:ext cx="2651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5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2007-Q2 至 2018-Q4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方法一：流式处理解决大规模数据加载问题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8046720" cy="685800"/>
          </a:xfrm>
          <a:prstGeom prst="rect">
            <a:avLst/>
          </a:prstGeom>
          <a:solidFill>
            <a:srgbClr val="FFE6E6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43000"/>
            <a:ext cx="640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50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7680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2.8GB CSV文件一次性读取导致内存溢出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8046720" cy="1188720"/>
          </a:xfrm>
          <a:prstGeom prst="rect">
            <a:avLst/>
          </a:prstGeom>
          <a:solidFill>
            <a:srgbClr val="D9E1F2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96596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5B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解决方案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76809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使用 pandas.read_csv(chunksize=10000) 逐块处理，每次只读1万条，处理完成后丢弃，再读下一万条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8046720" cy="685800"/>
          </a:xfrm>
          <a:prstGeom prst="rect">
            <a:avLst/>
          </a:prstGeom>
          <a:solidFill>
            <a:srgbClr val="E8F5E9"/>
          </a:solidFill>
          <a:ln w="12700">
            <a:solidFill>
              <a:srgbClr val="4B75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291840"/>
            <a:ext cx="640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B75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结果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566160"/>
            <a:ext cx="7680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内存占用始终保持在低水平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方法二：严格违约标签构造确保结论可靠性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8046720" cy="685800"/>
          </a:xfrm>
          <a:prstGeom prst="rect">
            <a:avLst/>
          </a:prstGeom>
          <a:solidFill>
            <a:srgbClr val="FFE6E6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43000"/>
            <a:ext cx="640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50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7680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贷款状态有10多种，Current（正在还款）将来是否违约未知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8046720" cy="1188720"/>
          </a:xfrm>
          <a:prstGeom prst="rect">
            <a:avLst/>
          </a:prstGeom>
          <a:solidFill>
            <a:srgbClr val="D9E1F2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96596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5B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解决方案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76809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只保留已完结状态：Fully Paid（全额还款）、Charged Off（核销）、Default（违约）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8046720" cy="685800"/>
          </a:xfrm>
          <a:prstGeom prst="rect">
            <a:avLst/>
          </a:prstGeom>
          <a:solidFill>
            <a:srgbClr val="E8F5E9"/>
          </a:solidFill>
          <a:ln w="12700">
            <a:solidFill>
              <a:srgbClr val="4B75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291840"/>
            <a:ext cx="640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B75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结果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566160"/>
            <a:ext cx="7680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从226万条筛选出136万条已完结样本，标签质量显著提高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方法三：时间对齐匹配贷款发放时的宏观环境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8046720" cy="685800"/>
          </a:xfrm>
          <a:prstGeom prst="rect">
            <a:avLst/>
          </a:prstGeom>
          <a:solidFill>
            <a:srgbClr val="FFE6E6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43000"/>
            <a:ext cx="640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50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7680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贷款数据跨越2007-2018年，FRED数据为月度频率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8046720" cy="1188720"/>
          </a:xfrm>
          <a:prstGeom prst="rect">
            <a:avLst/>
          </a:prstGeom>
          <a:solidFill>
            <a:srgbClr val="D9E1F2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96596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5B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解决方案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76809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FRED月度数据取季度最后一个月值，与贷款发放季度对齐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8046720" cy="685800"/>
          </a:xfrm>
          <a:prstGeom prst="rect">
            <a:avLst/>
          </a:prstGeom>
          <a:solidFill>
            <a:srgbClr val="E8F5E9"/>
          </a:solidFill>
          <a:ln w="12700">
            <a:solidFill>
              <a:srgbClr val="4B75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291840"/>
            <a:ext cx="640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B75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结果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566160"/>
            <a:ext cx="7680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匹配发放时的宏观环境，避免使用未来数据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方法四：残差分析证明地区经济的独立解释力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8046720" cy="685800"/>
          </a:xfrm>
          <a:prstGeom prst="rect">
            <a:avLst/>
          </a:prstGeom>
          <a:solidFill>
            <a:srgbClr val="FFE6E6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43000"/>
            <a:ext cx="640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50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7680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观察到贫困率高的州违约率高，但可能是因为这些州高风险贷款更多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8046720" cy="1188720"/>
          </a:xfrm>
          <a:prstGeom prst="rect">
            <a:avLst/>
          </a:prstGeom>
          <a:solidFill>
            <a:srgbClr val="D9E1F2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96596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5B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解决方案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76809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残差分析法：①建立利率→违约率模型 ②计算预期违约率 ③残差=实际-预期 ④分析残差与贫困率相关性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8046720" cy="685800"/>
          </a:xfrm>
          <a:prstGeom prst="rect">
            <a:avLst/>
          </a:prstGeom>
          <a:solidFill>
            <a:srgbClr val="E8F5E9"/>
          </a:solidFill>
          <a:ln w="12700">
            <a:solidFill>
              <a:srgbClr val="4B75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291840"/>
            <a:ext cx="640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B75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结果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566160"/>
            <a:ext cx="7680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控制利率后相关性从0.398降至0.362，仍然显著，证明地区经济有独立解释力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核心发现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200400" y="3200400"/>
            <a:ext cx="2743200" cy="45720"/>
          </a:xfrm>
          <a:prstGeom prst="rect">
            <a:avLst/>
          </a:prstGeom>
          <a:solidFill>
            <a:srgbClr val="FFFFFF"/>
          </a:solidFill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发现一：贷款等级强区分违约风险，A与G相差8倍</a:t>
            </a:r>
            <a:endParaRPr lang="en-US" sz="2000" dirty="0"/>
          </a:p>
        </p:txBody>
      </p:sp>
      <p:pic>
        <p:nvPicPr>
          <p:cNvPr id="3" name="Image 0" descr="/Users/bytedance/Desktop/DB/outputs/figures/lc_default_rate_by_grade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57200" y="1005840"/>
            <a:ext cx="4754880" cy="39319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394960" y="1005840"/>
            <a:ext cx="3291840" cy="3931920"/>
          </a:xfrm>
          <a:prstGeom prst="rect">
            <a:avLst/>
          </a:prstGeom>
          <a:solidFill>
            <a:srgbClr val="F5F5F5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577840" y="1143000"/>
            <a:ext cx="2926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核心发现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577840" y="1508760"/>
            <a:ext cx="29260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A等级违约率仅6.57%，G等级高达51.57%，相差近8倍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577840" y="2377440"/>
            <a:ext cx="29260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违约率随等级上升呈明显单调递增趋势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577840" y="3246120"/>
            <a:ext cx="29260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Lending Club的风险定价体系是有效的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发现二：利率与违约高度相关，反映平台风险定价能力</a:t>
            </a:r>
            <a:endParaRPr lang="en-US" sz="2000" dirty="0"/>
          </a:p>
        </p:txBody>
      </p:sp>
      <p:pic>
        <p:nvPicPr>
          <p:cNvPr id="3" name="Image 0" descr="/Users/bytedance/Desktop/DB/outputs/figures/lc_default_rate_by_interest_bin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57200" y="1005840"/>
            <a:ext cx="4754880" cy="39319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394960" y="1005840"/>
            <a:ext cx="3291840" cy="3931920"/>
          </a:xfrm>
          <a:prstGeom prst="rect">
            <a:avLst/>
          </a:prstGeom>
          <a:solidFill>
            <a:srgbClr val="F5F5F5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577840" y="1143000"/>
            <a:ext cx="2926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核心发现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577840" y="1508760"/>
            <a:ext cx="29260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低利率（&lt;8%）违约率6.38%，高利率（≥24%）违约率48.56%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577840" y="2377440"/>
            <a:ext cx="29260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违约率随利率上升几乎呈线性增长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577840" y="3246120"/>
            <a:ext cx="29260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利率定价已包含风险判断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发现三：宏观金融环境与违约率季度相关系数达0.844</a:t>
            </a:r>
            <a:endParaRPr lang="en-US" sz="2000" dirty="0"/>
          </a:p>
        </p:txBody>
      </p:sp>
      <p:pic>
        <p:nvPicPr>
          <p:cNvPr id="3" name="Image 0" descr="/Users/bytedance/Desktop/DB/outputs/figures/lc_fred_quarterly_overlay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57200" y="1005840"/>
            <a:ext cx="4754880" cy="39319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394960" y="1005840"/>
            <a:ext cx="3291840" cy="3931920"/>
          </a:xfrm>
          <a:prstGeom prst="rect">
            <a:avLst/>
          </a:prstGeom>
          <a:solidFill>
            <a:srgbClr val="F5F5F5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577840" y="1143000"/>
            <a:ext cx="2926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核心发现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577840" y="1508760"/>
            <a:ext cx="29260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联邦基金利率与违约率的季度相关系数为0.844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577840" y="2377440"/>
            <a:ext cx="29260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两条曲线趋势高度一致，反映宏观周期对个人违约的系统性影响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577840" y="3246120"/>
            <a:ext cx="29260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【重要】此为相关性分析，不能简单解释为因果关系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发现四：地区经济具有独立于个人特征的解释力</a:t>
            </a:r>
            <a:endParaRPr lang="en-US" sz="2000" dirty="0"/>
          </a:p>
        </p:txBody>
      </p:sp>
      <p:pic>
        <p:nvPicPr>
          <p:cNvPr id="3" name="Image 0" descr="/Users/bytedance/Desktop/DB/outputs/figures/lc_state_default_residual_interest_vs_poverty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57200" y="1005840"/>
            <a:ext cx="4754880" cy="39319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394960" y="1005840"/>
            <a:ext cx="3291840" cy="3931920"/>
          </a:xfrm>
          <a:prstGeom prst="rect">
            <a:avLst/>
          </a:prstGeom>
          <a:solidFill>
            <a:srgbClr val="F5F5F5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577840" y="1143000"/>
            <a:ext cx="2926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核心发现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577840" y="1508760"/>
            <a:ext cx="29260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原始相关（贫困率vs违约率）：r = 0.398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577840" y="2377440"/>
            <a:ext cx="29260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控制州级平均利率后：r = 0.362，仍然显著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577840" y="3246120"/>
            <a:ext cx="29260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控制州级平均FICO后：r = 0.459，相关性反而更强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577840" y="4114800"/>
            <a:ext cx="29260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结论：地区经济有独立于个人特征的解释力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发现五：组合风险分层识别超高风险人群</a:t>
            </a:r>
            <a:endParaRPr lang="en-US" sz="2000" dirty="0"/>
          </a:p>
        </p:txBody>
      </p:sp>
      <p:pic>
        <p:nvPicPr>
          <p:cNvPr id="3" name="Image 0" descr="/Users/bytedance/Desktop/DB/outputs/figures/lc_top_risk_grade_purpose_segments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57200" y="1005840"/>
            <a:ext cx="4754880" cy="39319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394960" y="1005840"/>
            <a:ext cx="3291840" cy="3931920"/>
          </a:xfrm>
          <a:prstGeom prst="rect">
            <a:avLst/>
          </a:prstGeom>
          <a:solidFill>
            <a:srgbClr val="F5F5F5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577840" y="1143000"/>
            <a:ext cx="2926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核心发现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577840" y="1508760"/>
            <a:ext cx="29260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G等级 × debt_consolidation（债务整合）违约率高达52.99%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577840" y="2377440"/>
            <a:ext cx="29260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每两笔此类贷款就有一笔违约，属于极高风险组合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577840" y="3246120"/>
            <a:ext cx="29260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实际应用：风控部门可直接识别此类组合进行严格审核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进度汇报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200400" y="3200400"/>
            <a:ext cx="2743200" cy="45720"/>
          </a:xfrm>
          <a:prstGeom prst="rect">
            <a:avLst/>
          </a:prstGeom>
          <a:solidFill>
            <a:srgbClr val="FFFFFF"/>
          </a:solidFill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项目进展：各阶段均按计划完成</a:t>
            </a:r>
            <a:endParaRPr lang="en-US" sz="22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/>
        </p:nvGraphicFramePr>
        <p:xfrm>
          <a:off x="640080" y="960120"/>
          <a:ext cx="786384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286000"/>
                <a:gridCol w="2377440"/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阶段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时间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状态</a:t>
                      </a:r>
                      <a:endParaRPr lang="en-US" sz="12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开题与问题定义</a:t>
                      </a:r>
                      <a:endParaRPr 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4/20–4/30</a:t>
                      </a:r>
                      <a:endParaRPr 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B756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✅ 完成</a:t>
                      </a:r>
                      <a:endParaRPr 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项目仓库搭建</a:t>
                      </a:r>
                      <a:endParaRPr 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5/15–5/18</a:t>
                      </a:r>
                      <a:endParaRPr 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B756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✅ 完成</a:t>
                      </a:r>
                      <a:endParaRPr 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Lending Club EDA</a:t>
                      </a:r>
                      <a:endParaRPr 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5/18–5/19</a:t>
                      </a:r>
                      <a:endParaRPr 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B756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✅ 完成</a:t>
                      </a:r>
                      <a:endParaRPr 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FRED/ERS 数据融合</a:t>
                      </a:r>
                      <a:endParaRPr 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5/19–5/20</a:t>
                      </a:r>
                      <a:endParaRPr 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B756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✅ 完成</a:t>
                      </a:r>
                      <a:endParaRPr 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风险分层分析</a:t>
                      </a:r>
                      <a:endParaRPr 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5/20</a:t>
                      </a:r>
                      <a:endParaRPr 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B756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✅ 完成</a:t>
                      </a:r>
                      <a:endParaRPr 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Home Credit 数据下载</a:t>
                      </a:r>
                      <a:endParaRPr 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5/20</a:t>
                      </a:r>
                      <a:endParaRPr 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B756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✅ 当前节点</a:t>
                      </a:r>
                      <a:endParaRPr 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控制变量建模</a:t>
                      </a:r>
                      <a:endParaRPr 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5/21–5/27</a:t>
                      </a:r>
                      <a:endParaRPr 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6AA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🔄 进行中</a:t>
                      </a:r>
                      <a:endParaRPr 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最终可视化</a:t>
                      </a:r>
                      <a:endParaRPr 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5/27–6/3</a:t>
                      </a:r>
                      <a:endParaRPr 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5A5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⏳ 计划中</a:t>
                      </a:r>
                      <a:endParaRPr 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最终报告与答辩</a:t>
                      </a:r>
                      <a:endParaRPr 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6/3–6/17</a:t>
                      </a:r>
                      <a:endParaRPr 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5A5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⏳ 计划中</a:t>
                      </a:r>
                      <a:endParaRPr lang="en-US" sz="11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奏效部分：四项关键技术成功落地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3840480" cy="1005840"/>
          </a:xfrm>
          <a:prstGeom prst="rect">
            <a:avLst/>
          </a:prstGeom>
          <a:solidFill>
            <a:srgbClr val="E8F5E9"/>
          </a:solidFill>
          <a:ln w="12700">
            <a:solidFill>
              <a:srgbClr val="4B75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88720"/>
            <a:ext cx="3474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B75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大型CSV流式处理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34747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使用chunksize=10000逐块处理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51560"/>
            <a:ext cx="3840480" cy="1005840"/>
          </a:xfrm>
          <a:prstGeom prst="rect">
            <a:avLst/>
          </a:prstGeom>
          <a:solidFill>
            <a:srgbClr val="E8F5E9"/>
          </a:solidFill>
          <a:ln w="12700">
            <a:solidFill>
              <a:srgbClr val="4B75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188720"/>
            <a:ext cx="3474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B75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贷款状态过滤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937760" y="1554480"/>
            <a:ext cx="34747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排除Current等未完结状态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240280"/>
            <a:ext cx="3840480" cy="1005840"/>
          </a:xfrm>
          <a:prstGeom prst="rect">
            <a:avLst/>
          </a:prstGeom>
          <a:solidFill>
            <a:srgbClr val="E8F5E9"/>
          </a:solidFill>
          <a:ln w="12700">
            <a:solidFill>
              <a:srgbClr val="4B75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377440"/>
            <a:ext cx="3474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B75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多源数据融合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2743200"/>
            <a:ext cx="34747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州代码映射和时间对齐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2240280"/>
            <a:ext cx="3840480" cy="1005840"/>
          </a:xfrm>
          <a:prstGeom prst="rect">
            <a:avLst/>
          </a:prstGeom>
          <a:solidFill>
            <a:srgbClr val="E8F5E9"/>
          </a:solidFill>
          <a:ln w="12700">
            <a:solidFill>
              <a:srgbClr val="4B75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2377440"/>
            <a:ext cx="3474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B75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可视化成果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37760" y="2743200"/>
            <a:ext cx="34747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生成28张图表和45+张统计表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受阻部分与应对方案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7863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50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Home Credit需要网页授权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78638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问题：Kaggle API返回403 | 解决：手动接受规则后成功下载 | 影响：不影响主线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7863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50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当前为相关性分析，非因果推断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78638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问题：无法从相关性推断因果关系 | 解决：下一阶段加入控制变量模型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后续计划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200400" y="3200400"/>
            <a:ext cx="2743200" cy="45720"/>
          </a:xfrm>
          <a:prstGeom prst="rect">
            <a:avLst/>
          </a:prstGeom>
          <a:solidFill>
            <a:srgbClr val="FFFFFF"/>
          </a:solidFill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后续计划：三个阶段推进项目完成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097280" cy="9601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9144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5/21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~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5/27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828800" y="1143000"/>
            <a:ext cx="2286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多源控制变量建模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828800" y="1691640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产出: 模型结果、增量贡献分析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1097280" cy="9601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331720"/>
            <a:ext cx="9144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5/27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~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6/3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28800" y="2286000"/>
            <a:ext cx="2286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最终可视化与结论提炼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828800" y="2834640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产出: 报告图表、核心结论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337560"/>
            <a:ext cx="1097280" cy="9601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474720"/>
            <a:ext cx="9144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6/3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~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6/17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0" y="3429000"/>
            <a:ext cx="2286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PPT/报告/视频打磨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828800" y="3977640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产出: 最终提交物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风险管理：每个风险均有备选方案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8046720" cy="10058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50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风险: Home Credit授权受限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76809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备选方案: 已有LC+FRED+ERS主线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8046720" cy="10058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240280"/>
            <a:ext cx="7680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50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风险: 相关性≠因果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560320"/>
            <a:ext cx="76809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备选方案: 加入控制变量模型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291840"/>
            <a:ext cx="8046720" cy="10058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383280"/>
            <a:ext cx="7680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50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风险: 时间紧张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703320"/>
            <a:ext cx="76809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备选方案: 保证多源分析完整性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结论：违约风险是个人、地区与宏观的复合结果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等级是强风险分层工具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7863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D5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A等级6.57% vs G等级51.57%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7863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宏观环境与违约高度相关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7863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D5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季度相关系数0.844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926080"/>
            <a:ext cx="7863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地区经济有独立解释力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3246120"/>
            <a:ext cx="7863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D5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控制后贫困率仍相关0.362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703320"/>
            <a:ext cx="7863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多源融合能精确识别高风险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4023360"/>
            <a:ext cx="7863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D5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G×debt_consolidation违约率52.99%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感谢聆听，欢迎提问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743200" y="2743200"/>
            <a:ext cx="3657600" cy="457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Text 2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项目仓库: github.com/Epiphanythu/ai-data-foundation-project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D5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欢迎提问与交流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2986</Words>
  <Application>WPS 文字</Application>
  <PresentationFormat>On-screen Show (16:9)</PresentationFormat>
  <Paragraphs>410</Paragraphs>
  <Slides>30</Slides>
  <Notes>30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47" baseType="lpstr">
      <vt:lpstr>Arial</vt:lpstr>
      <vt:lpstr>宋体</vt:lpstr>
      <vt:lpstr>Wingdings</vt:lpstr>
      <vt:lpstr>微软雅黑</vt:lpstr>
      <vt:lpstr>汉仪旗黑</vt:lpstr>
      <vt:lpstr>微软雅黑</vt:lpstr>
      <vt:lpstr>微软雅黑</vt:lpstr>
      <vt:lpstr>Calibri</vt:lpstr>
      <vt:lpstr>Helvetica Neue</vt:lpstr>
      <vt:lpstr>宋体</vt:lpstr>
      <vt:lpstr>Arial Unicode MS</vt:lpstr>
      <vt:lpstr>等线</vt:lpstr>
      <vt:lpstr>汉仪中等线KW</vt:lpstr>
      <vt:lpstr>汉仪书宋二KW</vt:lpstr>
      <vt:lpstr>Apple Color Emoji</vt:lpstr>
      <vt:lpstr>儷宋 Pro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数据科学课程项目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基于多源数据的个人贷款违约风险检测 - 中期汇报</dc:title>
  <dc:creator>贷款违约风险检测项目组</dc:creator>
  <dc:subject>PptxGenJS Presentation</dc:subject>
  <cp:lastModifiedBy>帆帆</cp:lastModifiedBy>
  <cp:revision>4</cp:revision>
  <dcterms:created xsi:type="dcterms:W3CDTF">2026-05-20T16:22:50Z</dcterms:created>
  <dcterms:modified xsi:type="dcterms:W3CDTF">2026-05-20T16:22:50Z</dcterms:modified>
  <dc:description>﻿﻿﻿﻿​﻿⁢﻿﻿﻿﻿﻿﻿﻿﻿﻿﻿﻿﻿﻿‌‌⁢‌‍﻿‌⁡</dc:descript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D406B269D033CB96DADF0D6AE687E88D_43</vt:lpwstr>
  </property>
  <property fmtid="{D5CDD505-2E9C-101B-9397-08002B2CF9AE}" pid="3" name="KSOProductBuildVer">
    <vt:lpwstr>2052-6.5.2.8766</vt:lpwstr>
  </property>
</Properties>
</file>