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55279" y="-1097280"/>
            <a:ext cx="5029200" cy="5029200"/>
          </a:xfrm>
          <a:prstGeom prst="ellipse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6217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AI DATA FOUNDATION · MIDTERM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7863840" cy="1508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基于多源数据的个人贷款</a:t>
            </a:r>
          </a:p>
          <a:p>
            <a:pPr>
              <a:defRPr sz="3800" b="1">
                <a:solidFill>
                  <a:srgbClr val="FFFFFF"/>
                </a:solidFill>
              </a:defRPr>
            </a:pPr>
            <a:r>
              <a:t>违约风险检测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676656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0">
                <a:solidFill>
                  <a:srgbClr val="CBD5E1"/>
                </a:solidFill>
              </a:defRPr>
            </a:pPr>
            <a:r>
              <a:t>从 Lending Club 真实贷款记录出发，融合地区经济与宏观金融变量，构建可解释的违约风险分析框架。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709160"/>
            <a:ext cx="20116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4855464"/>
            <a:ext cx="1792224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200" b="1">
                <a:solidFill>
                  <a:srgbClr val="0EA5E9"/>
                </a:solidFill>
              </a:defRPr>
            </a:pPr>
            <a:r>
              <a:t>226万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5276088"/>
            <a:ext cx="179222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</a:defRPr>
            </a:pPr>
            <a:r>
              <a:t>accepted 贷款记录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4709160"/>
            <a:ext cx="20116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72968" y="4855464"/>
            <a:ext cx="1792224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200" b="1">
                <a:solidFill>
                  <a:srgbClr val="16A34A"/>
                </a:solidFill>
              </a:defRPr>
            </a:pPr>
            <a:r>
              <a:t>136.8万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5276088"/>
            <a:ext cx="179222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</a:defRPr>
            </a:pPr>
            <a:r>
              <a:t>已完结样本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4709160"/>
            <a:ext cx="20116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248" y="4855464"/>
            <a:ext cx="1792224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200" b="1">
                <a:solidFill>
                  <a:srgbClr val="EA580C"/>
                </a:solidFill>
              </a:defRPr>
            </a:pPr>
            <a:r>
              <a:t>21.27%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3248" y="5276088"/>
            <a:ext cx="179222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</a:defRPr>
            </a:pPr>
            <a:r>
              <a:t>总体违约率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080760"/>
            <a:ext cx="475488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CBD5E1"/>
                </a:solidFill>
              </a:defRPr>
            </a:pPr>
            <a:r>
              <a:t>日期：2026-05-21</a:t>
            </a:r>
          </a:p>
          <a:p>
            <a:pPr>
              <a:defRPr sz="1200" b="0">
                <a:solidFill>
                  <a:srgbClr val="CBD5E1"/>
                </a:solidFill>
              </a:defRPr>
            </a:pPr>
            <a:r>
              <a:t>小组成员：请替换为实际姓名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438912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01 /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786384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研究动机：为什么这件事值得做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914400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13232" y="1362456"/>
            <a:ext cx="3429000" cy="182880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325880"/>
            <a:ext cx="3429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73152" cy="18288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490472"/>
            <a:ext cx="31089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现实价值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892807"/>
            <a:ext cx="3108960" cy="11430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334155"/>
                </a:solidFill>
              </a:defRPr>
            </a:pPr>
            <a:r>
              <a:t>个人贷款违约会直接影响坏账损失、资金定价和借款人信用可得性。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362456"/>
            <a:ext cx="3429000" cy="182880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325880"/>
            <a:ext cx="3429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325880"/>
            <a:ext cx="73152" cy="1828800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1490472"/>
            <a:ext cx="31089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传统不足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1892807"/>
            <a:ext cx="3108960" cy="11430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334155"/>
                </a:solidFill>
              </a:defRPr>
            </a:pPr>
            <a:r>
              <a:t>只看借款人自身画像，容易忽略地区就业、收入水平和宏观金融周期。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1" y="1362456"/>
            <a:ext cx="3429000" cy="182880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92440" y="1325880"/>
            <a:ext cx="3429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325880"/>
            <a:ext cx="73152" cy="182880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1490472"/>
            <a:ext cx="31089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项目主张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1892807"/>
            <a:ext cx="3108960" cy="11430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334155"/>
                </a:solidFill>
              </a:defRPr>
            </a:pPr>
            <a:r>
              <a:t>违约风险 = 个体信用特征 + 地区经济环境 + 宏观金融周期。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94760"/>
            <a:ext cx="15544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一句话主线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160520"/>
            <a:ext cx="106984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同样收入、同样信用等级的人，在不同地区和不同经济周期下，违约风险可能完全不同。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473952"/>
            <a:ext cx="1920240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</a:defRPr>
            </a:pPr>
            <a:r>
              <a:t>AI Data Foundation 中期汇报 ·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438912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02 /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786384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研究问题与挑战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914400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13232" y="1271016"/>
            <a:ext cx="3383280" cy="132588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234440"/>
            <a:ext cx="338328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73152" cy="132588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399032"/>
            <a:ext cx="306324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RQ1 数据融合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801368"/>
            <a:ext cx="306324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334155"/>
                </a:solidFill>
              </a:defRPr>
            </a:pPr>
            <a:r>
              <a:t>如何整合个人信贷、地区经济与宏观金融数据？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271016"/>
            <a:ext cx="3383280" cy="132588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07408" y="1234440"/>
            <a:ext cx="338328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7408" y="1234440"/>
            <a:ext cx="73152" cy="132588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399032"/>
            <a:ext cx="306324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RQ2 粒度对齐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1801368"/>
            <a:ext cx="306324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334155"/>
                </a:solidFill>
              </a:defRPr>
            </a:pPr>
            <a:r>
              <a:t>如何处理个人、州级、年度/季度级数据之间的口径差异？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47304" y="1271016"/>
            <a:ext cx="3383280" cy="132588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19872" y="1234440"/>
            <a:ext cx="338328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9872" y="1234440"/>
            <a:ext cx="73152" cy="132588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399032"/>
            <a:ext cx="306324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RQ3 解释价值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1801368"/>
            <a:ext cx="306324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334155"/>
                </a:solidFill>
              </a:defRPr>
            </a:pPr>
            <a:r>
              <a:t>多源变量是否能提供比单一贷款数据更可靠的风险洞察？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246120"/>
            <a:ext cx="10241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334155"/>
                </a:solidFill>
              </a:defRPr>
            </a:pPr>
            <a:r>
              <a:t>数据规模大：2,260,701 条 accepted 贷款记录，151 个字段。</a:t>
            </a:r>
          </a:p>
          <a:p>
            <a:pPr>
              <a:spcAft>
                <a:spcPts val="700"/>
              </a:spcAft>
              <a:defRPr sz="1800">
                <a:solidFill>
                  <a:srgbClr val="334155"/>
                </a:solidFill>
              </a:defRPr>
            </a:pPr>
            <a:r>
              <a:t>标签复杂：Current 等未完结贷款不能直接判断最终违约。</a:t>
            </a:r>
          </a:p>
          <a:p>
            <a:pPr>
              <a:spcAft>
                <a:spcPts val="700"/>
              </a:spcAft>
              <a:defRPr sz="1800">
                <a:solidFill>
                  <a:srgbClr val="334155"/>
                </a:solidFill>
              </a:defRPr>
            </a:pPr>
            <a:r>
              <a:t>结果需要可解释：不能只给模型分数，还要说明风险来源。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473952"/>
            <a:ext cx="1920240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</a:defRPr>
            </a:pPr>
            <a:r>
              <a:t>AI Data Foundation 中期汇报 ·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438912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03 / 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786384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相关工作：我们站在哪里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914400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13232" y="1271016"/>
            <a:ext cx="3383280" cy="333756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234440"/>
            <a:ext cx="3383280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73152" cy="33375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399032"/>
            <a:ext cx="306324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传统信用评分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801368"/>
            <a:ext cx="3063240" cy="2651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334155"/>
                </a:solidFill>
              </a:defRPr>
            </a:pPr>
            <a:r>
              <a:t>FICO、信用历史、收入、负债率</a:t>
            </a:r>
          </a:p>
          <a:p>
            <a:pPr>
              <a:defRPr sz="1200" b="0">
                <a:solidFill>
                  <a:srgbClr val="334155"/>
                </a:solidFill>
              </a:defRPr>
            </a:pPr>
          </a:p>
          <a:p>
            <a:pPr>
              <a:defRPr sz="1200" b="0">
                <a:solidFill>
                  <a:srgbClr val="334155"/>
                </a:solidFill>
              </a:defRPr>
            </a:pPr>
            <a:r>
              <a:t>优点：解释性强、金融机构熟悉</a:t>
            </a:r>
          </a:p>
          <a:p>
            <a:pPr>
              <a:defRPr sz="1200" b="0">
                <a:solidFill>
                  <a:srgbClr val="334155"/>
                </a:solidFill>
              </a:defRPr>
            </a:pPr>
            <a:r>
              <a:t>局限：偏重个体特征，难以捕捉外部环境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271016"/>
            <a:ext cx="3383280" cy="333756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07408" y="1234440"/>
            <a:ext cx="3383280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7408" y="1234440"/>
            <a:ext cx="73152" cy="33375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399032"/>
            <a:ext cx="306324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机器学习预测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1801368"/>
            <a:ext cx="3063240" cy="2651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334155"/>
                </a:solidFill>
              </a:defRPr>
            </a:pPr>
            <a:r>
              <a:t>Logistic Regression、Random Forest、XGBoost</a:t>
            </a:r>
          </a:p>
          <a:p>
            <a:pPr>
              <a:defRPr sz="1200" b="0">
                <a:solidFill>
                  <a:srgbClr val="334155"/>
                </a:solidFill>
              </a:defRPr>
            </a:pPr>
          </a:p>
          <a:p>
            <a:pPr>
              <a:defRPr sz="1200" b="0">
                <a:solidFill>
                  <a:srgbClr val="334155"/>
                </a:solidFill>
              </a:defRPr>
            </a:pPr>
            <a:r>
              <a:t>优点：预测能力强</a:t>
            </a:r>
          </a:p>
          <a:p>
            <a:pPr>
              <a:defRPr sz="1200" b="0">
                <a:solidFill>
                  <a:srgbClr val="334155"/>
                </a:solidFill>
              </a:defRPr>
            </a:pPr>
            <a:r>
              <a:t>局限：容易黑盒化，业务解释不足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47304" y="1271016"/>
            <a:ext cx="3383280" cy="333756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19872" y="1234440"/>
            <a:ext cx="3383280" cy="3337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9872" y="1234440"/>
            <a:ext cx="73152" cy="333756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399032"/>
            <a:ext cx="306324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多源风险分析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1801368"/>
            <a:ext cx="3063240" cy="2651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334155"/>
                </a:solidFill>
              </a:defRPr>
            </a:pPr>
            <a:r>
              <a:t>加入收入、失业率、利率、通胀等外部变量</a:t>
            </a:r>
          </a:p>
          <a:p>
            <a:pPr>
              <a:defRPr sz="1200" b="0">
                <a:solidFill>
                  <a:srgbClr val="334155"/>
                </a:solidFill>
              </a:defRPr>
            </a:pPr>
          </a:p>
          <a:p>
            <a:pPr>
              <a:defRPr sz="1200" b="0">
                <a:solidFill>
                  <a:srgbClr val="334155"/>
                </a:solidFill>
              </a:defRPr>
            </a:pPr>
            <a:r>
              <a:t>优点：视角全面</a:t>
            </a:r>
          </a:p>
          <a:p>
            <a:pPr>
              <a:defRPr sz="1200" b="0">
                <a:solidFill>
                  <a:srgbClr val="334155"/>
                </a:solidFill>
              </a:defRPr>
            </a:pPr>
            <a:r>
              <a:t>局限：数据对齐和口径一致性困难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10332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本项目定位：先把真实数据清洗、融合、统计分析和可解释洞察做好，再考虑预测模型。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473952"/>
            <a:ext cx="1920240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</a:defRPr>
            </a:pPr>
            <a:r>
              <a:t>AI Data Foundation 中期汇报 ·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438912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04 / Data Assets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786384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数据集与中期状态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914400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325880"/>
            <a:ext cx="2103120" cy="658368"/>
          </a:xfrm>
          <a:prstGeom prst="rect">
            <a:avLst/>
          </a:prstGeom>
          <a:solidFill>
            <a:srgbClr val="0F172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99032"/>
            <a:ext cx="2011679" cy="5852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数据源</a:t>
            </a:r>
          </a:p>
        </p:txBody>
      </p:sp>
      <p:sp>
        <p:nvSpPr>
          <p:cNvPr id="7" name="Rectangle 6"/>
          <p:cNvSpPr/>
          <p:nvPr/>
        </p:nvSpPr>
        <p:spPr>
          <a:xfrm>
            <a:off x="2880360" y="1325880"/>
            <a:ext cx="4572000" cy="658368"/>
          </a:xfrm>
          <a:prstGeom prst="rect">
            <a:avLst/>
          </a:prstGeom>
          <a:solidFill>
            <a:srgbClr val="0F172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79" y="1399032"/>
            <a:ext cx="4480560" cy="5852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作用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325880"/>
            <a:ext cx="4114800" cy="658368"/>
          </a:xfrm>
          <a:prstGeom prst="rect">
            <a:avLst/>
          </a:prstGeom>
          <a:solidFill>
            <a:srgbClr val="0F172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0" y="1399032"/>
            <a:ext cx="4023360" cy="5852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中期状态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84248"/>
            <a:ext cx="2103120" cy="65836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2011679" cy="5852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Lending Club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360" y="1984248"/>
            <a:ext cx="45720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79" y="2057400"/>
            <a:ext cx="4480560" cy="5852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贷款状态、等级、利率、收入、州、时间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1984248"/>
            <a:ext cx="4114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2057400"/>
            <a:ext cx="4023360" cy="5852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已下载并完成真实 EDA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642615"/>
            <a:ext cx="2103120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715768"/>
            <a:ext cx="2011679" cy="5852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Home Credit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360" y="2642615"/>
            <a:ext cx="4572000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6079" y="2715768"/>
            <a:ext cx="4480560" cy="5852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补充信贷场景对照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52360" y="2642615"/>
            <a:ext cx="4114800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2715768"/>
            <a:ext cx="4023360" cy="5852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需先接受 Kaggle competition rules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3300984"/>
            <a:ext cx="2103120" cy="65836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374136"/>
            <a:ext cx="2011679" cy="5852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ACS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80360" y="3300984"/>
            <a:ext cx="45720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79" y="3374136"/>
            <a:ext cx="4480560" cy="5852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州/县收入、贫困率、就业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3300984"/>
            <a:ext cx="4114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0" y="3374136"/>
            <a:ext cx="4023360" cy="5852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下一阶段接入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3959352"/>
            <a:ext cx="2103120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032504"/>
            <a:ext cx="2011679" cy="5852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Fed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80360" y="3959352"/>
            <a:ext cx="4572000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26079" y="4032504"/>
            <a:ext cx="4480560" cy="5852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利率、通胀、失业率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52360" y="3959352"/>
            <a:ext cx="4114800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0" y="4032504"/>
            <a:ext cx="4023360" cy="5852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下一阶段接入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" y="4983480"/>
            <a:ext cx="20574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5568" y="5129784"/>
            <a:ext cx="1837943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200" b="1">
                <a:solidFill>
                  <a:srgbClr val="2563EB"/>
                </a:solidFill>
              </a:defRPr>
            </a:pPr>
            <a:r>
              <a:t>151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" y="5550408"/>
            <a:ext cx="1837943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</a:defRPr>
            </a:pPr>
            <a:r>
              <a:t>Lending Club 字段数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29000" y="4983480"/>
            <a:ext cx="20574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8728" y="5129784"/>
            <a:ext cx="1837943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200" b="1">
                <a:solidFill>
                  <a:srgbClr val="0EA5E9"/>
                </a:solidFill>
              </a:defRPr>
            </a:pPr>
            <a:r>
              <a:t>2.26M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38728" y="5550408"/>
            <a:ext cx="1837943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</a:defRPr>
            </a:pPr>
            <a:r>
              <a:t>原始记录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52160" y="4983480"/>
            <a:ext cx="20574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61888" y="5129784"/>
            <a:ext cx="1837943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200" b="1">
                <a:solidFill>
                  <a:srgbClr val="16A34A"/>
                </a:solidFill>
              </a:defRPr>
            </a:pPr>
            <a:r>
              <a:t>1.37M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61888" y="5550408"/>
            <a:ext cx="1837943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</a:defRPr>
            </a:pPr>
            <a:r>
              <a:t>已完结样本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75320" y="4983480"/>
            <a:ext cx="20574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85048" y="5129784"/>
            <a:ext cx="1837943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200" b="1">
                <a:solidFill>
                  <a:srgbClr val="EA580C"/>
                </a:solidFill>
              </a:defRPr>
            </a:pPr>
            <a:r>
              <a:t>21.27%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5048" y="5550408"/>
            <a:ext cx="1837943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</a:defRPr>
            </a:pPr>
            <a:r>
              <a:t>总体违约率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92640" y="6473952"/>
            <a:ext cx="1920240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</a:defRPr>
            </a:pPr>
            <a:r>
              <a:t>AI Data Foundation 中期汇报 ·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438912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05 /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786384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数据流水线：从原始 CSV 到可解释图表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914400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5800" y="1828800"/>
            <a:ext cx="1874519" cy="685800"/>
          </a:xfrm>
          <a:prstGeom prst="homePlat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029968"/>
            <a:ext cx="1709928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Kaggle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原始数据</a:t>
            </a:r>
          </a:p>
        </p:txBody>
      </p:sp>
      <p:sp>
        <p:nvSpPr>
          <p:cNvPr id="7" name="Pentagon 6"/>
          <p:cNvSpPr/>
          <p:nvPr/>
        </p:nvSpPr>
        <p:spPr>
          <a:xfrm>
            <a:off x="2953512" y="1828800"/>
            <a:ext cx="1874519" cy="685800"/>
          </a:xfrm>
          <a:prstGeom prst="homePlate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26664" y="2029968"/>
            <a:ext cx="1709928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字段检查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缺失统计</a:t>
            </a:r>
          </a:p>
        </p:txBody>
      </p:sp>
      <p:sp>
        <p:nvSpPr>
          <p:cNvPr id="9" name="Pentagon 8"/>
          <p:cNvSpPr/>
          <p:nvPr/>
        </p:nvSpPr>
        <p:spPr>
          <a:xfrm>
            <a:off x="5221224" y="1828800"/>
            <a:ext cx="1874519" cy="685800"/>
          </a:xfrm>
          <a:prstGeom prst="homePlate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94376" y="2029968"/>
            <a:ext cx="1709928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状态过滤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标签定义</a:t>
            </a:r>
          </a:p>
        </p:txBody>
      </p:sp>
      <p:sp>
        <p:nvSpPr>
          <p:cNvPr id="11" name="Pentagon 10"/>
          <p:cNvSpPr/>
          <p:nvPr/>
        </p:nvSpPr>
        <p:spPr>
          <a:xfrm>
            <a:off x="7488936" y="1828800"/>
            <a:ext cx="1874519" cy="685800"/>
          </a:xfrm>
          <a:prstGeom prst="homePlate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2088" y="2029968"/>
            <a:ext cx="1709928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分组聚合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违约率</a:t>
            </a:r>
          </a:p>
        </p:txBody>
      </p:sp>
      <p:sp>
        <p:nvSpPr>
          <p:cNvPr id="13" name="Pentagon 12"/>
          <p:cNvSpPr/>
          <p:nvPr/>
        </p:nvSpPr>
        <p:spPr>
          <a:xfrm>
            <a:off x="9756648" y="1828800"/>
            <a:ext cx="1874519" cy="685800"/>
          </a:xfrm>
          <a:prstGeom prst="homePlat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2029968"/>
            <a:ext cx="1709928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表格图表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汇报产出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" y="3739896"/>
            <a:ext cx="4892040" cy="141732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3703320"/>
            <a:ext cx="489204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703320"/>
            <a:ext cx="73152" cy="14173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3867911"/>
            <a:ext cx="45720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关键处理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4270248"/>
            <a:ext cx="45720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334155"/>
                </a:solidFill>
              </a:defRPr>
            </a:pPr>
            <a:r>
              <a:t>只用 Fully Paid / Charged Off / Default 等可判断最终结果的状态计算违约率，避免把 Current 误判为不违约。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82512" y="3739896"/>
            <a:ext cx="4892040" cy="141732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55080" y="3703320"/>
            <a:ext cx="489204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3703320"/>
            <a:ext cx="73152" cy="141732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6248" y="3867911"/>
            <a:ext cx="45720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下一步扩展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6248" y="4270248"/>
            <a:ext cx="45720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334155"/>
                </a:solidFill>
              </a:defRPr>
            </a:pPr>
            <a:r>
              <a:t>把 ACS 州级经济指标和 Fed 宏观金融指标接入，解释地区差异和时间趋势。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6473952"/>
            <a:ext cx="1920240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</a:defRPr>
            </a:pPr>
            <a:r>
              <a:t>AI Data Foundation 中期汇报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438912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06 /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786384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当前进度：已经从框架推进到真实数据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914400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234440"/>
            <a:ext cx="20116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380744"/>
            <a:ext cx="1792224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200" b="1">
                <a:solidFill>
                  <a:srgbClr val="2563EB"/>
                </a:solidFill>
              </a:defRPr>
            </a:pPr>
            <a:r>
              <a:t>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801368"/>
            <a:ext cx="179222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</a:defRPr>
            </a:pPr>
            <a:r>
              <a:t>项目仓库已上传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63240" y="1234440"/>
            <a:ext cx="20116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72968" y="1380744"/>
            <a:ext cx="1792224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200" b="1">
                <a:solidFill>
                  <a:srgbClr val="0EA5E9"/>
                </a:solidFill>
              </a:defRPr>
            </a:pPr>
            <a:r>
              <a:t>2.26M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72968" y="1801368"/>
            <a:ext cx="179222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</a:defRPr>
            </a:pPr>
            <a:r>
              <a:t>Lending Club 已读取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1234440"/>
            <a:ext cx="20116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58968" y="1380744"/>
            <a:ext cx="1792224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200" b="1">
                <a:solidFill>
                  <a:srgbClr val="16A34A"/>
                </a:solidFill>
              </a:defRPr>
            </a:pPr>
            <a:r>
              <a:t>1.37M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58968" y="1801368"/>
            <a:ext cx="179222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</a:defRPr>
            </a:pPr>
            <a:r>
              <a:t>已完结记录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1234440"/>
            <a:ext cx="20116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44967" y="1380744"/>
            <a:ext cx="1792224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200" b="1">
                <a:solidFill>
                  <a:srgbClr val="EA580C"/>
                </a:solidFill>
              </a:defRPr>
            </a:pPr>
            <a:r>
              <a:t>5+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44967" y="1801368"/>
            <a:ext cx="1792224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</a:defRPr>
            </a:pPr>
            <a:r>
              <a:t>真实数据图表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788920"/>
            <a:ext cx="9875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334155"/>
                </a:solidFill>
              </a:defRPr>
            </a:pPr>
            <a:r>
              <a:t>完成代码结构、README、数据说明、PPT 生成脚本。</a:t>
            </a:r>
          </a:p>
          <a:p>
            <a:pPr>
              <a:spcAft>
                <a:spcPts val="700"/>
              </a:spcAft>
              <a:defRPr sz="1800">
                <a:solidFill>
                  <a:srgbClr val="334155"/>
                </a:solidFill>
              </a:defRPr>
            </a:pPr>
            <a:r>
              <a:t>完成 Lending Club 大文件流式分析，输出真实统计表与图表。</a:t>
            </a:r>
          </a:p>
          <a:p>
            <a:pPr>
              <a:spcAft>
                <a:spcPts val="700"/>
              </a:spcAft>
              <a:defRPr sz="1800">
                <a:solidFill>
                  <a:srgbClr val="334155"/>
                </a:solidFill>
              </a:defRPr>
            </a:pPr>
            <a:r>
              <a:t>当前节点：单一真实信贷数据源分析完成，下一步进入 ACS/Fed 多源融合。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6473952"/>
            <a:ext cx="1920240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</a:defRPr>
            </a:pPr>
            <a:r>
              <a:t>AI Data Foundation 中期汇报 ·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438912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Finding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786384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真实发现 1：贷款等级与违约率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914400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4672" y="1362456"/>
            <a:ext cx="4892040" cy="347472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325880"/>
            <a:ext cx="489204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325880"/>
            <a:ext cx="73152" cy="34747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490472"/>
            <a:ext cx="45720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核心解读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1892807"/>
            <a:ext cx="4572000" cy="2788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334155"/>
                </a:solidFill>
              </a:defRPr>
            </a:pPr>
            <a:r>
              <a:t>A 等级违约率约 6.57%</a:t>
            </a:r>
          </a:p>
          <a:p>
            <a:pPr>
              <a:defRPr sz="1300" b="0">
                <a:solidFill>
                  <a:srgbClr val="334155"/>
                </a:solidFill>
              </a:defRPr>
            </a:pPr>
            <a:r>
              <a:t>G 等级违约率约 51.57%</a:t>
            </a:r>
          </a:p>
          <a:p>
            <a:pPr>
              <a:defRPr sz="1300" b="0">
                <a:solidFill>
                  <a:srgbClr val="334155"/>
                </a:solidFill>
              </a:defRPr>
            </a:pPr>
            <a:r>
              <a:t>等级体系对违约风险有强区分力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234440"/>
            <a:ext cx="54406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c_default_rate_by_gr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490472"/>
            <a:ext cx="5038344" cy="2922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92640" y="6473952"/>
            <a:ext cx="1920240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</a:defRPr>
            </a:pPr>
            <a:r>
              <a:t>AI Data Foundation 中期汇报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438912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Finding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786384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真实发现 2：利率与违约率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914400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4672" y="1362456"/>
            <a:ext cx="4892040" cy="347472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325880"/>
            <a:ext cx="489204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325880"/>
            <a:ext cx="73152" cy="3474720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490472"/>
            <a:ext cx="45720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核心解读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1892807"/>
            <a:ext cx="4572000" cy="2788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334155"/>
                </a:solidFill>
              </a:defRPr>
            </a:pPr>
            <a:r>
              <a:t>&lt;8% 利率分箱违约率约 6.38%</a:t>
            </a:r>
          </a:p>
          <a:p>
            <a:pPr>
              <a:defRPr sz="1300" b="0">
                <a:solidFill>
                  <a:srgbClr val="334155"/>
                </a:solidFill>
              </a:defRPr>
            </a:pPr>
            <a:r>
              <a:t>&gt;=24% 利率分箱违约率约 48.56%</a:t>
            </a:r>
          </a:p>
          <a:p>
            <a:pPr>
              <a:defRPr sz="1300" b="0">
                <a:solidFill>
                  <a:srgbClr val="334155"/>
                </a:solidFill>
              </a:defRPr>
            </a:pPr>
            <a:r>
              <a:t>高风险贷款呈现明显违约集中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234440"/>
            <a:ext cx="54406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c_default_rate_by_interest_b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490472"/>
            <a:ext cx="5038344" cy="2922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92640" y="6473952"/>
            <a:ext cx="1920240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</a:defRPr>
            </a:pPr>
            <a:r>
              <a:t>AI Data Foundation 中期汇报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438912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Finding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786384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真实发现 3：FICO 与违约率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914400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4672" y="1362456"/>
            <a:ext cx="4892040" cy="347472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325880"/>
            <a:ext cx="489204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325880"/>
            <a:ext cx="73152" cy="347472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490472"/>
            <a:ext cx="45720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核心解读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1892807"/>
            <a:ext cx="4572000" cy="2788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334155"/>
                </a:solidFill>
              </a:defRPr>
            </a:pPr>
            <a:r>
              <a:t>FICO 越低，违约率通常越高</a:t>
            </a:r>
          </a:p>
          <a:p>
            <a:pPr>
              <a:defRPr sz="1300" b="0">
                <a:solidFill>
                  <a:srgbClr val="334155"/>
                </a:solidFill>
              </a:defRPr>
            </a:pPr>
            <a:r>
              <a:t>传统信用评分仍有解释力</a:t>
            </a:r>
          </a:p>
          <a:p>
            <a:pPr>
              <a:defRPr sz="1300" b="0">
                <a:solidFill>
                  <a:srgbClr val="334155"/>
                </a:solidFill>
              </a:defRPr>
            </a:pPr>
            <a:r>
              <a:t>多源数据用于补充环境信息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234440"/>
            <a:ext cx="54406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c_default_rate_by_fico_b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490472"/>
            <a:ext cx="5038344" cy="2922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92640" y="6473952"/>
            <a:ext cx="1920240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</a:defRPr>
            </a:pPr>
            <a:r>
              <a:t>AI Data Foundation 中期汇报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438912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Finding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786384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真实发现 4：时间趋势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914400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4672" y="1362456"/>
            <a:ext cx="4892040" cy="347472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325880"/>
            <a:ext cx="489204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325880"/>
            <a:ext cx="73152" cy="347472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490472"/>
            <a:ext cx="45720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核心解读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1892807"/>
            <a:ext cx="4572000" cy="2788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334155"/>
                </a:solidFill>
              </a:defRPr>
            </a:pPr>
            <a:r>
              <a:t>按发放年份观察信贷周期风险</a:t>
            </a:r>
          </a:p>
          <a:p>
            <a:pPr>
              <a:defRPr sz="1300" b="0">
                <a:solidFill>
                  <a:srgbClr val="334155"/>
                </a:solidFill>
              </a:defRPr>
            </a:pPr>
            <a:r>
              <a:t>后续与 Fed 利率、通胀、失业率对齐</a:t>
            </a:r>
          </a:p>
          <a:p>
            <a:pPr>
              <a:defRPr sz="1300" b="0">
                <a:solidFill>
                  <a:srgbClr val="334155"/>
                </a:solidFill>
              </a:defRPr>
            </a:pPr>
            <a:r>
              <a:t>解释宏观环境造成的风险波动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234440"/>
            <a:ext cx="54406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c_default_rate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490472"/>
            <a:ext cx="5038344" cy="2922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92640" y="6473952"/>
            <a:ext cx="1920240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</a:defRPr>
            </a:pPr>
            <a:r>
              <a:t>AI Data Foundation 中期汇报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438912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Finding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786384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真实发现 5：州级差异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914400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4672" y="1362456"/>
            <a:ext cx="4892040" cy="347472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325880"/>
            <a:ext cx="489204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325880"/>
            <a:ext cx="73152" cy="3474720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490472"/>
            <a:ext cx="45720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核心解读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1892807"/>
            <a:ext cx="4572000" cy="2788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334155"/>
                </a:solidFill>
              </a:defRPr>
            </a:pPr>
            <a:r>
              <a:t>州级违约率存在明显差异</a:t>
            </a:r>
          </a:p>
          <a:p>
            <a:pPr>
              <a:defRPr sz="1300" b="0">
                <a:solidFill>
                  <a:srgbClr val="334155"/>
                </a:solidFill>
              </a:defRPr>
            </a:pPr>
            <a:r>
              <a:t>MS 违约率最高，约 28.37%</a:t>
            </a:r>
          </a:p>
          <a:p>
            <a:pPr>
              <a:defRPr sz="1300" b="0">
                <a:solidFill>
                  <a:srgbClr val="334155"/>
                </a:solidFill>
              </a:defRPr>
            </a:pPr>
            <a:r>
              <a:t>后续用 ACS 指标解释地区差异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234440"/>
            <a:ext cx="544068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c_default_rate_top_st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490472"/>
            <a:ext cx="5038344" cy="2922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92640" y="6473952"/>
            <a:ext cx="1920240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</a:defRPr>
            </a:pPr>
            <a:r>
              <a:t>AI Data Foundation 中期汇报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438912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12 / What Worked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786384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哪些尝试奏效，哪些没有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914400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4672" y="1271016"/>
            <a:ext cx="5166360" cy="416052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234440"/>
            <a:ext cx="5166360" cy="41605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34440"/>
            <a:ext cx="73152" cy="416052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399032"/>
            <a:ext cx="48463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奏效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1801368"/>
            <a:ext cx="4846320" cy="34747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334155"/>
                </a:solidFill>
              </a:defRPr>
            </a:pPr>
            <a:r>
              <a:t>1. Lending Club 大型 CSV 成功流式处理</a:t>
            </a:r>
          </a:p>
          <a:p>
            <a:pPr>
              <a:defRPr sz="1200" b="0">
                <a:solidFill>
                  <a:srgbClr val="334155"/>
                </a:solidFill>
              </a:defRPr>
            </a:pPr>
            <a:r>
              <a:t>2. 贷款状态过滤避免标签误判</a:t>
            </a:r>
          </a:p>
          <a:p>
            <a:pPr>
              <a:defRPr sz="1200" b="0">
                <a:solidFill>
                  <a:srgbClr val="334155"/>
                </a:solidFill>
              </a:defRPr>
            </a:pPr>
            <a:r>
              <a:t>3. 真实数据图表可直接用于中期汇报</a:t>
            </a:r>
          </a:p>
          <a:p>
            <a:pPr>
              <a:defRPr sz="1200" b="0">
                <a:solidFill>
                  <a:srgbClr val="334155"/>
                </a:solidFill>
              </a:defRPr>
            </a:pPr>
            <a:r>
              <a:t>4. GitHub 仓库和运行脚本可复现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271016"/>
            <a:ext cx="5166360" cy="416052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1234440"/>
            <a:ext cx="5166360" cy="41605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234440"/>
            <a:ext cx="73152" cy="4160520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7" y="1399032"/>
            <a:ext cx="48463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暂未奏效 / 受阻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7" y="1801368"/>
            <a:ext cx="4846320" cy="34747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334155"/>
                </a:solidFill>
              </a:defRPr>
            </a:pPr>
            <a:r>
              <a:t>1. Home Credit 需要网页端接受 Kaggle rules</a:t>
            </a:r>
          </a:p>
          <a:p>
            <a:pPr>
              <a:defRPr sz="1200" b="0">
                <a:solidFill>
                  <a:srgbClr val="334155"/>
                </a:solidFill>
              </a:defRPr>
            </a:pPr>
            <a:r>
              <a:t>2. ACS/Fed 尚未真实融合</a:t>
            </a:r>
          </a:p>
          <a:p>
            <a:pPr>
              <a:defRPr sz="1200" b="0">
                <a:solidFill>
                  <a:srgbClr val="334155"/>
                </a:solidFill>
              </a:defRPr>
            </a:pPr>
            <a:r>
              <a:t>3. 当前可视化仍以静态图为主</a:t>
            </a:r>
          </a:p>
          <a:p>
            <a:pPr>
              <a:defRPr sz="1200" b="0">
                <a:solidFill>
                  <a:srgbClr val="334155"/>
                </a:solidFill>
              </a:defRPr>
            </a:pPr>
            <a:r>
              <a:t>4. 多源变量贡献需要下一阶段验证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6473952"/>
            <a:ext cx="1920240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</a:defRPr>
            </a:pPr>
            <a:r>
              <a:t>AI Data Foundation 中期汇报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438912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13 /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786384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项目甘特图与当前节点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914400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1143000"/>
            <a:ext cx="548640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00" b="0">
                <a:solidFill>
                  <a:srgbClr val="64748B"/>
                </a:solidFill>
              </a:defRPr>
            </a:pPr>
            <a:r>
              <a:t>4/20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143000"/>
            <a:ext cx="914400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00" b="1">
                <a:solidFill>
                  <a:srgbClr val="EA580C"/>
                </a:solidFill>
              </a:defRPr>
            </a:pPr>
            <a:r>
              <a:t>5/19 当前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15400" y="1143000"/>
            <a:ext cx="548640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00" b="0">
                <a:solidFill>
                  <a:srgbClr val="64748B"/>
                </a:solidFill>
              </a:defRPr>
            </a:pPr>
            <a:r>
              <a:t>6/17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73352"/>
            <a:ext cx="20574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开题与问题定义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1673352"/>
            <a:ext cx="9144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00" b="0">
                <a:solidFill>
                  <a:srgbClr val="64748B"/>
                </a:solidFill>
              </a:defRPr>
            </a:pPr>
            <a:r>
              <a:t>4/20–4/30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86200" y="1600200"/>
            <a:ext cx="1280160" cy="292608"/>
          </a:xfrm>
          <a:prstGeom prst="round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295144"/>
            <a:ext cx="20574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项目仓库与数据说明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295144"/>
            <a:ext cx="9144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00" b="0">
                <a:solidFill>
                  <a:srgbClr val="64748B"/>
                </a:solidFill>
              </a:defRPr>
            </a:pPr>
            <a:r>
              <a:t>5/15–5/18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221992"/>
            <a:ext cx="502920" cy="292608"/>
          </a:xfrm>
          <a:prstGeom prst="round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916936"/>
            <a:ext cx="20574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Lending Club EDA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916936"/>
            <a:ext cx="9144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00" b="0">
                <a:solidFill>
                  <a:srgbClr val="64748B"/>
                </a:solidFill>
              </a:defRPr>
            </a:pPr>
            <a:r>
              <a:t>5/18–5/19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79" y="2843784"/>
            <a:ext cx="411480" cy="292608"/>
          </a:xfrm>
          <a:prstGeom prst="round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538728"/>
            <a:ext cx="20574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Home Credit / ACS / Fed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3538728"/>
            <a:ext cx="9144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00" b="0">
                <a:solidFill>
                  <a:srgbClr val="64748B"/>
                </a:solidFill>
              </a:defRPr>
            </a:pPr>
            <a:r>
              <a:t>5/20–5/27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3465576"/>
            <a:ext cx="1371600" cy="292608"/>
          </a:xfrm>
          <a:prstGeom prst="round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160520"/>
            <a:ext cx="20574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多源融合与对比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4160520"/>
            <a:ext cx="9144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00" b="0">
                <a:solidFill>
                  <a:srgbClr val="64748B"/>
                </a:solidFill>
              </a:defRPr>
            </a:pPr>
            <a:r>
              <a:t>5/27–6/3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4087368"/>
            <a:ext cx="1463040" cy="292608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782312"/>
            <a:ext cx="20574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最终报告与视频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4782312"/>
            <a:ext cx="9144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00" b="0">
                <a:solidFill>
                  <a:srgbClr val="64748B"/>
                </a:solidFill>
              </a:defRPr>
            </a:pPr>
            <a:r>
              <a:t>6/3–6/17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92640" y="4709160"/>
            <a:ext cx="2651760" cy="29260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74920" y="1417320"/>
            <a:ext cx="32004" cy="4114800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10058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当前：真实 Lending Club 分析完成，准备进入多源融合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6473952"/>
            <a:ext cx="1920240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</a:defRPr>
            </a:pPr>
            <a:r>
              <a:t>AI Data Foundation 中期汇报 ·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438912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14 /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786384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后续计划：把单源洞察推进到多源解释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914400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1554480" cy="612648"/>
          </a:xfrm>
          <a:prstGeom prst="rect">
            <a:avLst/>
          </a:prstGeom>
          <a:solidFill>
            <a:srgbClr val="0F172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07592"/>
            <a:ext cx="1463039" cy="5394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时间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1234440"/>
            <a:ext cx="5669280" cy="612648"/>
          </a:xfrm>
          <a:prstGeom prst="rect">
            <a:avLst/>
          </a:prstGeom>
          <a:solidFill>
            <a:srgbClr val="0F172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1307592"/>
            <a:ext cx="5577840" cy="5394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任务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1234440"/>
            <a:ext cx="3291840" cy="612648"/>
          </a:xfrm>
          <a:prstGeom prst="rect">
            <a:avLst/>
          </a:prstGeom>
          <a:solidFill>
            <a:srgbClr val="0F172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1307592"/>
            <a:ext cx="3200400" cy="5394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产出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847088"/>
            <a:ext cx="1554480" cy="61264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1463039" cy="5394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5/20–5/22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48840" y="1847088"/>
            <a:ext cx="5669280" cy="61264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94560" y="1920240"/>
            <a:ext cx="5577840" cy="5394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Home Credit 授权下载；若失败则作为补充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1847088"/>
            <a:ext cx="3291840" cy="61264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1920240"/>
            <a:ext cx="3200400" cy="5394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数据可用性结论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2459736"/>
            <a:ext cx="1554480" cy="61264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32888"/>
            <a:ext cx="1463039" cy="5394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5/22–5/27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48840" y="2459736"/>
            <a:ext cx="5669280" cy="61264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2532888"/>
            <a:ext cx="5577840" cy="5394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下载 ACS/Fed，统一州代码和年份/季度口径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2459736"/>
            <a:ext cx="3291840" cy="61264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0" y="2532888"/>
            <a:ext cx="3200400" cy="5394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外部变量表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3072384"/>
            <a:ext cx="1554480" cy="61264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145536"/>
            <a:ext cx="1463039" cy="5394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5/27–6/3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48840" y="3072384"/>
            <a:ext cx="5669280" cy="61264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94560" y="3145536"/>
            <a:ext cx="5577840" cy="5394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Lending Club 与 ACS/Fed 州级、时间级融合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18120" y="3072384"/>
            <a:ext cx="3291840" cy="61264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0" y="3145536"/>
            <a:ext cx="3200400" cy="5394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多源融合数据集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3685032"/>
            <a:ext cx="1554480" cy="61264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758184"/>
            <a:ext cx="1463039" cy="5394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6/3–6/8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48840" y="3685032"/>
            <a:ext cx="5669280" cy="61264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4560" y="3758184"/>
            <a:ext cx="5577840" cy="5394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最终可视化、核心结论、报告初稿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18120" y="3685032"/>
            <a:ext cx="3291840" cy="61264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0" y="3758184"/>
            <a:ext cx="3200400" cy="5394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报告和图表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4297680"/>
            <a:ext cx="1554480" cy="61264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370832"/>
            <a:ext cx="1463039" cy="5394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6/8–6/17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48840" y="4297680"/>
            <a:ext cx="5669280" cy="61264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94560" y="4370832"/>
            <a:ext cx="5577840" cy="5394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打磨最终 PPT、视频和代码仓库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18120" y="4297680"/>
            <a:ext cx="3291840" cy="61264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63840" y="4370832"/>
            <a:ext cx="3200400" cy="5394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最终提交物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2640" y="6473952"/>
            <a:ext cx="1920240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</a:defRPr>
            </a:pPr>
            <a:r>
              <a:t>AI Data Foundation 中期汇报 ·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438912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15 / 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786384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风险与备选方案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914400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325880"/>
            <a:ext cx="2743200" cy="713232"/>
          </a:xfrm>
          <a:prstGeom prst="rect">
            <a:avLst/>
          </a:prstGeom>
          <a:solidFill>
            <a:srgbClr val="0F172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99032"/>
            <a:ext cx="265176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1325880"/>
            <a:ext cx="3200400" cy="713232"/>
          </a:xfrm>
          <a:prstGeom prst="rect">
            <a:avLst/>
          </a:prstGeom>
          <a:solidFill>
            <a:srgbClr val="0F172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399032"/>
            <a:ext cx="310896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影响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0" y="1325880"/>
            <a:ext cx="4572000" cy="713232"/>
          </a:xfrm>
          <a:prstGeom prst="rect">
            <a:avLst/>
          </a:prstGeom>
          <a:solidFill>
            <a:srgbClr val="0F172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399032"/>
            <a:ext cx="448056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备选方案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039112"/>
            <a:ext cx="2743200" cy="71323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12264"/>
            <a:ext cx="265176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Home Credit 需网页授权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0" y="2039112"/>
            <a:ext cx="3200400" cy="71323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2112264"/>
            <a:ext cx="310896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数据无法按期下载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0" y="2039112"/>
            <a:ext cx="4572000" cy="71323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112264"/>
            <a:ext cx="448056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先以 Lending Club + ACS + Fed 完成主线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2752344"/>
            <a:ext cx="27432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825496"/>
            <a:ext cx="265176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ACS/Fed 粒度不一致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9000" y="2752344"/>
            <a:ext cx="32004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0" y="2825496"/>
            <a:ext cx="310896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JOIN 质量不稳定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0" y="2752344"/>
            <a:ext cx="4572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2825496"/>
            <a:ext cx="448056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降到州级、年度/季度级对齐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465576"/>
            <a:ext cx="2743200" cy="71323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538728"/>
            <a:ext cx="265176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本地处理大文件慢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9000" y="3465576"/>
            <a:ext cx="3200400" cy="71323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3538728"/>
            <a:ext cx="310896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影响迭代速度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29400" y="3465576"/>
            <a:ext cx="4572000" cy="71323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3538728"/>
            <a:ext cx="448056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流式 CSV 统计 + 抽样分析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178808"/>
            <a:ext cx="27432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251960"/>
            <a:ext cx="265176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多源变量提升不明显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29000" y="4178808"/>
            <a:ext cx="32004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0" y="4251960"/>
            <a:ext cx="310896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结论不够强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29400" y="4178808"/>
            <a:ext cx="4572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4251960"/>
            <a:ext cx="448056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0">
                <a:solidFill>
                  <a:srgbClr val="334155"/>
                </a:solidFill>
              </a:defRPr>
            </a:pPr>
            <a:r>
              <a:t>强调解释性洞察和局限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6473952"/>
            <a:ext cx="1920240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</a:defRPr>
            </a:pPr>
            <a:r>
              <a:t>AI Data Foundation 中期汇报 ·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82880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400" b="1">
                <a:solidFill>
                  <a:srgbClr val="0EA5E9"/>
                </a:solidFill>
              </a:defRPr>
            </a:pPr>
            <a: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8046720" cy="10972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我们已经从“项目想法”推进到</a:t>
            </a:r>
          </a:p>
          <a:p>
            <a:pPr>
              <a:defRPr sz="3400" b="1">
                <a:solidFill>
                  <a:srgbClr val="FFFFFF"/>
                </a:solidFill>
              </a:defRPr>
            </a:pPr>
            <a:r>
              <a:t>“真实 Lending Club 数据分析”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337560"/>
            <a:ext cx="20574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7" y="3483864"/>
            <a:ext cx="1837943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200" b="1">
                <a:solidFill>
                  <a:srgbClr val="0EA5E9"/>
                </a:solidFill>
              </a:defRPr>
            </a:pPr>
            <a:r>
              <a:t>2.26M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7" y="3904487"/>
            <a:ext cx="1837943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</a:defRPr>
            </a:pPr>
            <a:r>
              <a:t>真实贷款记录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3337560"/>
            <a:ext cx="20574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55848" y="3483864"/>
            <a:ext cx="1837943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200" b="1">
                <a:solidFill>
                  <a:srgbClr val="EA580C"/>
                </a:solidFill>
              </a:defRPr>
            </a:pPr>
            <a:r>
              <a:t>21.27%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5848" y="3904487"/>
            <a:ext cx="1837943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</a:defRPr>
            </a:pPr>
            <a:r>
              <a:t>总体违约率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0" y="3337560"/>
            <a:ext cx="20574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33288" y="3483864"/>
            <a:ext cx="1837943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200" b="1">
                <a:solidFill>
                  <a:srgbClr val="16A34A"/>
                </a:solidFill>
              </a:defRPr>
            </a:pPr>
            <a:r>
              <a:t>A→G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33288" y="3904487"/>
            <a:ext cx="1837943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</a:defRPr>
            </a:pPr>
            <a:r>
              <a:t>风险等级梯度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166360"/>
            <a:ext cx="987552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000" b="1">
                <a:solidFill>
                  <a:srgbClr val="CBD5E1"/>
                </a:solidFill>
              </a:defRPr>
            </a:pPr>
            <a:r>
              <a:t>下一阶段：接入 ACS/Fed，解释地区和宏观环境如何影响违约风险。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