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基于多源数据的个人贷款违约风险检测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9E795"/>
                </a:solidFill>
              </a:defRPr>
            </a:pPr>
            <a:r>
              <a:t>Multi-Source Data Fusion for Loan Default Risk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AI Data Foundation Project | 2026-05-21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646E96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743200"/>
            <a:ext cx="7159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研究动机与问题定义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3840480"/>
            <a:ext cx="71597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9E795"/>
                </a:solidFill>
              </a:defRPr>
            </a:pPr>
            <a:r>
              <a:t>Research Motivation &amp; Problem Definition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核心研究问题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• 同样收入、同样信用评分的两个人，违约风险会一样吗？</a:t>
            </a: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• 一个住在密西西比州（贫困率19%），一个住在加州（贫困率13%）</a:t>
            </a: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• 一个在2008年低利率时期贷款，一个在2006年高利率时期贷款</a:t>
            </a: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• 传统模型只看个人特征，忽略了环境和周期因素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</a:defRPr>
            </a:pPr>
            <a:r>
              <a:t>为什么这项研究重要？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45720" cy="457200"/>
          </a:xfrm>
          <a:prstGeom prst="rect">
            <a:avLst/>
          </a:prstGeom>
          <a:solidFill>
            <a:srgbClr val="2E75B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5B6"/>
                </a:solidFill>
              </a:defRPr>
            </a:pPr>
            <a:r>
              <a:t>📊 实际价值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43434"/>
                </a:solidFill>
              </a:defRPr>
            </a:pPr>
            <a:r>
              <a:t>• 个人贷款违约直接影响金融机构坏账损失</a:t>
            </a:r>
          </a:p>
          <a:p>
            <a:pPr>
              <a:spcAft>
                <a:spcPts val="800"/>
              </a:spcAft>
              <a:defRPr sz="1600">
                <a:solidFill>
                  <a:srgbClr val="343434"/>
                </a:solidFill>
              </a:defRPr>
            </a:pPr>
            <a:r>
              <a:t>• 影响借款人的信用定价和融资成本</a:t>
            </a:r>
          </a:p>
          <a:p>
            <a:pPr>
              <a:spcAft>
                <a:spcPts val="800"/>
              </a:spcAft>
              <a:defRPr sz="1600">
                <a:solidFill>
                  <a:srgbClr val="343434"/>
                </a:solidFill>
              </a:defRPr>
            </a:pPr>
            <a:r>
              <a:t>• 风险定价不准会导致不公平现象</a:t>
            </a:r>
          </a:p>
          <a:p>
            <a:pPr>
              <a:spcAft>
                <a:spcPts val="800"/>
              </a:spcAft>
              <a:defRPr sz="1600">
                <a:solidFill>
                  <a:srgbClr val="343434"/>
                </a:solidFill>
              </a:defRPr>
            </a:pPr>
            <a:r>
              <a:t>• 多源数据可以提升定价精准度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45720" cy="457200"/>
          </a:xfrm>
          <a:prstGeom prst="rect">
            <a:avLst/>
          </a:prstGeom>
          <a:solidFill>
            <a:srgbClr val="F9616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96167"/>
                </a:solidFill>
              </a:defRPr>
            </a:pPr>
            <a:r>
              <a:t>🎯 科学问题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43434"/>
                </a:solidFill>
              </a:defRPr>
            </a:pPr>
            <a:r>
              <a:t>• 违约风险 = 个人特征 + 地区经济 + 宏观周期</a:t>
            </a:r>
          </a:p>
          <a:p>
            <a:pPr>
              <a:spcAft>
                <a:spcPts val="800"/>
              </a:spcAft>
              <a:defRPr sz="1600">
                <a:solidFill>
                  <a:srgbClr val="343434"/>
                </a:solidFill>
              </a:defRPr>
            </a:pPr>
            <a:r>
              <a:t>• 三层模型如何验证？</a:t>
            </a:r>
          </a:p>
          <a:p>
            <a:pPr>
              <a:spcAft>
                <a:spcPts val="800"/>
              </a:spcAft>
              <a:defRPr sz="1600">
                <a:solidFill>
                  <a:srgbClr val="343434"/>
                </a:solidFill>
              </a:defRPr>
            </a:pPr>
            <a:r>
              <a:t>• 各层变量的独立解释力有多大？</a:t>
            </a:r>
          </a:p>
          <a:p>
            <a:pPr>
              <a:spcAft>
                <a:spcPts val="800"/>
              </a:spcAft>
              <a:defRPr sz="1600">
                <a:solidFill>
                  <a:srgbClr val="343434"/>
                </a:solidFill>
              </a:defRPr>
            </a:pPr>
            <a:r>
              <a:t>• 多源融合能带来多少增量价值？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项目面临的核心挑战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📁 挑战一：数据规模大</a:t>
            </a: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   • Lending Club: 226万条记录，151个字段，文件大小2.8GB</a:t>
            </a: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   • 一次性加载会导致内存溢出</a:t>
            </a: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🏷️ 挑战二：标签复杂</a:t>
            </a: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   • 贷款状态有10多种：Fully Paid, Charged Off, Current, Late...</a:t>
            </a: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   • 未完结状态（Current, Late）无法判断最终是否违约</a:t>
            </a: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🔗 挑战三：多源数据粒度不一致</a:t>
            </a: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   • 贷款数据：个人级别 + 发放时间</a:t>
            </a: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   • 州级数据：50个州的年度/季度平均值</a:t>
            </a: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   • 宏观数据：国家层面的月度/季度时间序列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646E96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743200"/>
            <a:ext cx="7159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相关工作与定位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3840480"/>
            <a:ext cx="71597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9E795"/>
                </a:solidFill>
              </a:defRPr>
            </a:pPr>
            <a:r>
              <a:t>Related Work &amp; Positioning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</a:defRPr>
            </a:pPr>
            <a:r>
              <a:t>现有方法对比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13716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方法类型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代表技术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优点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局限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43434"/>
                          </a:solidFill>
                        </a:defRPr>
                      </a:pPr>
                      <a:r>
                        <a:t>传统信用评分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343434"/>
                          </a:solidFill>
                        </a:defRPr>
                      </a:pPr>
                      <a:r>
                        <a:t>FICO、收入、负债率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343434"/>
                          </a:solidFill>
                        </a:defRPr>
                      </a:pPr>
                      <a:r>
                        <a:t>解释性强，易于理解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343434"/>
                          </a:solidFill>
                        </a:defRPr>
                      </a:pPr>
                      <a:r>
                        <a:t>只看个人，忽略环境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43434"/>
                          </a:solidFill>
                        </a:defRPr>
                      </a:pPr>
                      <a:r>
                        <a:t>机器学习预测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343434"/>
                          </a:solidFill>
                        </a:defRPr>
                      </a:pPr>
                      <a:r>
                        <a:t>LR、RF、XGBoost、神经网络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343434"/>
                          </a:solidFill>
                        </a:defRPr>
                      </a:pPr>
                      <a:r>
                        <a:t>预测能力强，准确率高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343434"/>
                          </a:solidFill>
                        </a:defRPr>
                      </a:pPr>
                      <a:r>
                        <a:t>容易黑盒化，缺乏可解释性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43434"/>
                          </a:solidFill>
                        </a:defRPr>
                      </a:pPr>
                      <a:r>
                        <a:t>多源风险分析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343434"/>
                          </a:solidFill>
                        </a:defRPr>
                      </a:pPr>
                      <a:r>
                        <a:t>地区收入、失业率、利率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343434"/>
                          </a:solidFill>
                        </a:defRPr>
                      </a:pPr>
                      <a:r>
                        <a:t>视角全面，贴近实际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343434"/>
                          </a:solidFill>
                        </a:defRPr>
                      </a:pPr>
                      <a:r>
                        <a:t>数据对齐困难，口径不一致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43434"/>
                          </a:solidFill>
                        </a:defRPr>
                      </a:pPr>
                      <a:r>
                        <a:t>本研究定位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343434"/>
                          </a:solidFill>
                        </a:defRPr>
                      </a:pPr>
                      <a:r>
                        <a:t>个体+地区+宏观 三层融合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343434"/>
                          </a:solidFill>
                        </a:defRPr>
                      </a:pPr>
                      <a:r>
                        <a:t>先做数据清洗和可解释分析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343434"/>
                          </a:solidFill>
                        </a:defRPr>
                      </a:pPr>
                      <a:r>
                        <a:t>再考虑预测模型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646E96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743200"/>
            <a:ext cx="7159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数据全景与融合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3840480"/>
            <a:ext cx="71597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9E795"/>
                </a:solidFill>
              </a:defRPr>
            </a:pPr>
            <a:r>
              <a:t>Data Overview &amp; Integration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</a:defRPr>
            </a:pPr>
            <a:r>
              <a:t>四源数据融合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13716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数据源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记录数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变量数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作用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43434"/>
                          </a:solidFill>
                        </a:defRPr>
                      </a:pPr>
                      <a:r>
                        <a:t>Lending Club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343434"/>
                          </a:solidFill>
                        </a:defRPr>
                      </a:pPr>
                      <a:r>
                        <a:t>226万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343434"/>
                          </a:solidFill>
                        </a:defRPr>
                      </a:pPr>
                      <a:r>
                        <a:t>151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343434"/>
                          </a:solidFill>
                        </a:defRPr>
                      </a:pPr>
                      <a:r>
                        <a:t>✅ 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343434"/>
                          </a:solidFill>
                        </a:defRPr>
                      </a:pPr>
                      <a:r>
                        <a:t>个体贷款记录、违约标签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43434"/>
                          </a:solidFill>
                        </a:defRPr>
                      </a:pPr>
                      <a:r>
                        <a:t>FRED 宏观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343434"/>
                          </a:solidFill>
                        </a:defRPr>
                      </a:pPr>
                      <a:r>
                        <a:t>47季度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343434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343434"/>
                          </a:solidFill>
                        </a:defRPr>
                      </a:pPr>
                      <a:r>
                        <a:t>✅ 完成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343434"/>
                          </a:solidFill>
                        </a:defRPr>
                      </a:pPr>
                      <a:r>
                        <a:t>利率、通胀、失业率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43434"/>
                          </a:solidFill>
                        </a:defRPr>
                      </a:pPr>
                      <a:r>
                        <a:t>USDA 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343434"/>
                          </a:solidFill>
                        </a:defRPr>
                      </a:pPr>
                      <a:r>
                        <a:t>50州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343434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343434"/>
                          </a:solidFill>
                        </a:defRPr>
                      </a:pPr>
                      <a:r>
                        <a:t>✅ 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343434"/>
                          </a:solidFill>
                        </a:defRPr>
                      </a:pPr>
                      <a:r>
                        <a:t>州级收入、贫困率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43434"/>
                          </a:solidFill>
                        </a:defRPr>
                      </a:pPr>
                      <a:r>
                        <a:t>Home Credit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343434"/>
                          </a:solidFill>
                        </a:defRPr>
                      </a:pPr>
                      <a:r>
                        <a:t>30万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343434"/>
                          </a:solidFill>
                        </a:defRPr>
                      </a:pPr>
                      <a:r>
                        <a:t>122+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343434"/>
                          </a:solidFill>
                        </a:defRPr>
                      </a:pPr>
                      <a:r>
                        <a:t>✅ 完成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343434"/>
                          </a:solidFill>
                        </a:defRPr>
                      </a:pPr>
                      <a:r>
                        <a:t>补充信贷场景对照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数据融合成果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✅ 已完结样本筛选</a:t>
            </a: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   • 从 2,260,701 条原始记录中筛选出 1,367,578 条已完结样本</a:t>
            </a: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   • 排除 Current、Late 等未完结状态，确保标签质量</a:t>
            </a: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✅ 时空完整覆盖</a:t>
            </a: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   • 50 个州：完整匹配州级经济数据</a:t>
            </a: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   • 47 个季度：2007-Q2 至 2018-Q4</a:t>
            </a: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   • 州 + 季度 双重聚合维度</a:t>
            </a: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✅ 多源对齐完成</a:t>
            </a: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   • 个人级数据 ←→ 州级数据（通过 addr_state）</a:t>
            </a: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   • 个人级数据 ←→ 宏观数据（通过 issue_quarter）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646E96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743200"/>
            <a:ext cx="7159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方法论与技术实现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3840480"/>
            <a:ext cx="71597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9E795"/>
                </a:solidFill>
              </a:defRPr>
            </a:pPr>
            <a:r>
              <a:t>Methodology &amp; Technical Implementation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</a:defRPr>
            </a:pPr>
            <a:r>
              <a:t>五层技术架构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43434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t>│  Layer 1: 数据获取层                                                │</a:t>
            </a:r>
          </a:p>
          <a:p>
            <a:r>
              <a:t>│  Kaggle API + FRED API + USDA ERS 网页爬取                            │</a:t>
            </a:r>
          </a:p>
          <a:p>
            <a: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t>                              ↓</a:t>
            </a:r>
          </a:p>
          <a:p>
            <a: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t>│  Layer 2: 数据清洗层                                              │</a:t>
            </a:r>
          </a:p>
          <a:p>
            <a:r>
              <a:t>│  • 流式CSV读取 (chunksize=10,000)  • 状态过滤  • 缺失值处理        │</a:t>
            </a:r>
          </a:p>
          <a:p>
            <a: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t>                              ↓</a:t>
            </a:r>
          </a:p>
          <a:p>
            <a: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t>│  Layer 3: 特征工程层                                              │</a:t>
            </a:r>
          </a:p>
          <a:p>
            <a:r>
              <a:t>│  • 违约标签构造  • 时间特征提取  • 州级聚合  • 利率分箱           │</a:t>
            </a:r>
          </a:p>
          <a:p>
            <a: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t>                              ↓</a:t>
            </a:r>
          </a:p>
          <a:p>
            <a: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t>│  Layer 4: 多源融合层                                              │</a:t>
            </a:r>
          </a:p>
          <a:p>
            <a:r>
              <a:t>│  • 州代码匹配  • 季度时间对齐  • 控制变量残差计算                 │</a:t>
            </a:r>
          </a:p>
          <a:p>
            <a: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t>                              ↓</a:t>
            </a:r>
          </a:p>
          <a:p>
            <a: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t>│  Layer 5: 统计分析层                                              │</a:t>
            </a:r>
          </a:p>
          <a:p>
            <a:r>
              <a:t>│  • 分组聚合  • 相关系数  • 组合交叉分析  • 可视化                 │</a:t>
            </a:r>
          </a:p>
          <a:p>
            <a:r>
              <a:t>└─────────────────────────────────────────────────────────────────┘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</a:defRPr>
            </a:pPr>
            <a:r>
              <a:t>方法一：处理大规模 CSV 数据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45720" cy="457200"/>
          </a:xfrm>
          <a:prstGeom prst="rect">
            <a:avLst/>
          </a:prstGeom>
          <a:solidFill>
            <a:srgbClr val="2E75B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5B6"/>
                </a:solidFill>
              </a:defRPr>
            </a:pPr>
            <a:r>
              <a:t>❌ 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43434"/>
                </a:solidFill>
              </a:defRPr>
            </a:pPr>
            <a:r>
              <a:t>• Lending Club accepted.csv 文件 2.8GB</a:t>
            </a:r>
          </a:p>
          <a:p>
            <a:pPr>
              <a:spcAft>
                <a:spcPts val="800"/>
              </a:spcAft>
              <a:defRPr sz="1600">
                <a:solidFill>
                  <a:srgbClr val="343434"/>
                </a:solidFill>
              </a:defRPr>
            </a:pPr>
            <a:r>
              <a:t>• 一次性读取 pd.read_csv() 会内存溢出</a:t>
            </a:r>
          </a:p>
          <a:p>
            <a:pPr>
              <a:spcAft>
                <a:spcPts val="800"/>
              </a:spcAft>
              <a:defRPr sz="1600">
                <a:solidFill>
                  <a:srgbClr val="343434"/>
                </a:solidFill>
              </a:defRPr>
            </a:pPr>
            <a:r>
              <a:t>• 电脑有 16GB 内存也不够用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45720" cy="457200"/>
          </a:xfrm>
          <a:prstGeom prst="rect">
            <a:avLst/>
          </a:prstGeom>
          <a:solidFill>
            <a:srgbClr val="F9616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96167"/>
                </a:solidFill>
              </a:defRPr>
            </a:pPr>
            <a:r>
              <a:t>✅ 解决方案：流式处理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43434"/>
                </a:solidFill>
              </a:defRPr>
            </a:pPr>
            <a:r>
              <a:t>• 使用 pandas.read_csv(chunksize=10000)</a:t>
            </a:r>
          </a:p>
          <a:p>
            <a:pPr>
              <a:spcAft>
                <a:spcPts val="800"/>
              </a:spcAft>
              <a:defRPr sz="1600">
                <a:solidFill>
                  <a:srgbClr val="343434"/>
                </a:solidFill>
              </a:defRPr>
            </a:pPr>
            <a:r>
              <a:t>• 每次只读 1 万条记录</a:t>
            </a:r>
          </a:p>
          <a:p>
            <a:pPr>
              <a:spcAft>
                <a:spcPts val="800"/>
              </a:spcAft>
              <a:defRPr sz="1600">
                <a:solidFill>
                  <a:srgbClr val="343434"/>
                </a:solidFill>
              </a:defRPr>
            </a:pPr>
            <a:r>
              <a:t>• 处理完后立即释放内存</a:t>
            </a:r>
          </a:p>
          <a:p>
            <a:pPr>
              <a:spcAft>
                <a:spcPts val="800"/>
              </a:spcAft>
              <a:defRPr sz="1600">
                <a:solidFill>
                  <a:srgbClr val="343434"/>
                </a:solidFill>
              </a:defRPr>
            </a:pPr>
            <a:r>
              <a:t>• 累积统计计数，不保存所有行</a:t>
            </a:r>
          </a:p>
          <a:p>
            <a:pPr>
              <a:spcAft>
                <a:spcPts val="800"/>
              </a:spcAft>
              <a:defRPr sz="1600">
                <a:solidFill>
                  <a:srgbClr val="343434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43434"/>
                </a:solidFill>
              </a:defRPr>
            </a:pPr>
            <a:r>
              <a:t>代码逻辑：</a:t>
            </a:r>
          </a:p>
          <a:p>
            <a:pPr>
              <a:spcAft>
                <a:spcPts val="800"/>
              </a:spcAft>
              <a:defRPr sz="1600">
                <a:solidFill>
                  <a:srgbClr val="343434"/>
                </a:solidFill>
              </a:defRPr>
            </a:pPr>
            <a:r>
              <a:t>for chunk in pd.read_csv(path, chunksize=10000):</a:t>
            </a:r>
          </a:p>
          <a:p>
            <a:pPr>
              <a:spcAft>
                <a:spcPts val="800"/>
              </a:spcAft>
              <a:defRPr sz="1600">
                <a:solidFill>
                  <a:srgbClr val="343434"/>
                </a:solidFill>
              </a:defRPr>
            </a:pPr>
            <a:r>
              <a:t>    processed = process_chunk(chunk)</a:t>
            </a:r>
          </a:p>
          <a:p>
            <a:pPr>
              <a:spcAft>
                <a:spcPts val="800"/>
              </a:spcAft>
              <a:defRPr sz="1600">
                <a:solidFill>
                  <a:srgbClr val="343434"/>
                </a:solidFill>
              </a:defRPr>
            </a:pPr>
            <a:r>
              <a:t>    accumulate(processed)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方法二：违约标签构造（关键决策）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🔍 原始数据状态分布（10+ 种状态）</a:t>
            </a: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✅ 已完结状态（保留）:</a:t>
            </a: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   • Fully Paid（全额还款）→ 标记为 0（不违约）</a:t>
            </a: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   • Charged Off（核销坏账）→ 标记为 1（违约）</a:t>
            </a: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   • Default（违约）→ 标记为 1（违约）</a:t>
            </a: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❌ 未完结状态（排除）:</a:t>
            </a: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   • Current（正在还款）→ 无法判断最终结果，排除</a:t>
            </a: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   • Late (16-30 days) → 可能会还款，排除</a:t>
            </a: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   • Late (31-120 days) → 可能会还款，排除</a:t>
            </a: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   • In Payment Plan → 还款计划中，排除</a:t>
            </a: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📊 决策结果：从 226 万条记录筛选出 136 万条已完结样本</a:t>
            </a: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   虽然样本量减少，但标签质量大大提高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</a:defRPr>
            </a:pPr>
            <a:r>
              <a:t>方法三：多源时间对齐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45720" cy="457200"/>
          </a:xfrm>
          <a:prstGeom prst="rect">
            <a:avLst/>
          </a:prstGeom>
          <a:solidFill>
            <a:srgbClr val="2E75B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5B6"/>
                </a:solidFill>
              </a:defRPr>
            </a:pPr>
            <a:r>
              <a:t>📅 贷款数据时间格式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43434"/>
                </a:solidFill>
              </a:defRPr>
            </a:pPr>
            <a:r>
              <a:t>• 原始字段 issue_d 格式: 'Dec-2017'</a:t>
            </a:r>
          </a:p>
          <a:p>
            <a:pPr>
              <a:spcAft>
                <a:spcPts val="800"/>
              </a:spcAft>
              <a:defRPr sz="1600">
                <a:solidFill>
                  <a:srgbClr val="343434"/>
                </a:solidFill>
              </a:defRPr>
            </a:pPr>
            <a:r>
              <a:t>• 需要解析为 datetime 类型</a:t>
            </a:r>
          </a:p>
          <a:p>
            <a:pPr>
              <a:spcAft>
                <a:spcPts val="800"/>
              </a:spcAft>
              <a:defRPr sz="1600">
                <a:solidFill>
                  <a:srgbClr val="343434"/>
                </a:solidFill>
              </a:defRPr>
            </a:pPr>
            <a:r>
              <a:t>• 提取年份和季度</a:t>
            </a:r>
          </a:p>
          <a:p>
            <a:pPr>
              <a:spcAft>
                <a:spcPts val="800"/>
              </a:spcAft>
              <a:defRPr sz="1600">
                <a:solidFill>
                  <a:srgbClr val="343434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43434"/>
                </a:solidFill>
              </a:defRPr>
            </a:pPr>
            <a:r>
              <a:t>代码：</a:t>
            </a:r>
          </a:p>
          <a:p>
            <a:pPr>
              <a:spcAft>
                <a:spcPts val="800"/>
              </a:spcAft>
              <a:defRPr sz="1600">
                <a:solidFill>
                  <a:srgbClr val="343434"/>
                </a:solidFill>
              </a:defRPr>
            </a:pPr>
            <a:r>
              <a:t>df['issue_date'] = pd.to_datetime(</a:t>
            </a:r>
          </a:p>
          <a:p>
            <a:pPr>
              <a:spcAft>
                <a:spcPts val="800"/>
              </a:spcAft>
              <a:defRPr sz="1600">
                <a:solidFill>
                  <a:srgbClr val="343434"/>
                </a:solidFill>
              </a:defRPr>
            </a:pPr>
            <a:r>
              <a:t>    df['issue_d'], format='%b-%Y')</a:t>
            </a:r>
          </a:p>
          <a:p>
            <a:pPr>
              <a:spcAft>
                <a:spcPts val="800"/>
              </a:spcAft>
              <a:defRPr sz="1600">
                <a:solidFill>
                  <a:srgbClr val="343434"/>
                </a:solidFill>
              </a:defRPr>
            </a:pPr>
            <a:r>
              <a:t>df['year'] = df['issue_date'].dt.year</a:t>
            </a:r>
          </a:p>
          <a:p>
            <a:pPr>
              <a:spcAft>
                <a:spcPts val="800"/>
              </a:spcAft>
              <a:defRPr sz="1600">
                <a:solidFill>
                  <a:srgbClr val="343434"/>
                </a:solidFill>
              </a:defRPr>
            </a:pPr>
            <a:r>
              <a:t>df['quarter'] = df['issue_date'].dt.quarter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45720" cy="457200"/>
          </a:xfrm>
          <a:prstGeom prst="rect">
            <a:avLst/>
          </a:prstGeom>
          <a:solidFill>
            <a:srgbClr val="F9616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96167"/>
                </a:solidFill>
              </a:defRPr>
            </a:pPr>
            <a:r>
              <a:t>🔄 宏观数据时间对齐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43434"/>
                </a:solidFill>
              </a:defRPr>
            </a:pPr>
            <a:r>
              <a:t>• FRED 数据是月度的</a:t>
            </a:r>
          </a:p>
          <a:p>
            <a:pPr>
              <a:spcAft>
                <a:spcPts val="800"/>
              </a:spcAft>
              <a:defRPr sz="1600">
                <a:solidFill>
                  <a:srgbClr val="343434"/>
                </a:solidFill>
              </a:defRPr>
            </a:pPr>
            <a:r>
              <a:t>• 贷款数据是季度的</a:t>
            </a:r>
          </a:p>
          <a:p>
            <a:pPr>
              <a:spcAft>
                <a:spcPts val="800"/>
              </a:spcAft>
              <a:defRPr sz="1600">
                <a:solidFill>
                  <a:srgbClr val="343434"/>
                </a:solidFill>
              </a:defRPr>
            </a:pPr>
            <a:r>
              <a:t>• 需要月度 → 季度转换</a:t>
            </a:r>
          </a:p>
          <a:p>
            <a:pPr>
              <a:spcAft>
                <a:spcPts val="800"/>
              </a:spcAft>
              <a:defRPr sz="1600">
                <a:solidFill>
                  <a:srgbClr val="343434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43434"/>
                </a:solidFill>
              </a:defRPr>
            </a:pPr>
            <a:r>
              <a:t>方法：取季度最后一个月的值</a:t>
            </a:r>
          </a:p>
          <a:p>
            <a:pPr>
              <a:spcAft>
                <a:spcPts val="800"/>
              </a:spcAft>
              <a:defRPr sz="1600">
                <a:solidFill>
                  <a:srgbClr val="343434"/>
                </a:solidFill>
              </a:defRPr>
            </a:pPr>
            <a:r>
              <a:t>（代表发放贷款时的宏观环境）</a:t>
            </a:r>
          </a:p>
          <a:p>
            <a:pPr>
              <a:spcAft>
                <a:spcPts val="800"/>
              </a:spcAft>
              <a:defRPr sz="1600">
                <a:solidFill>
                  <a:srgbClr val="343434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43434"/>
                </a:solidFill>
              </a:defRPr>
            </a:pPr>
            <a:r>
              <a:t>对齐结果：</a:t>
            </a:r>
          </a:p>
          <a:p>
            <a:pPr>
              <a:spcAft>
                <a:spcPts val="800"/>
              </a:spcAft>
              <a:defRPr sz="1600">
                <a:solidFill>
                  <a:srgbClr val="343434"/>
                </a:solidFill>
              </a:defRPr>
            </a:pPr>
            <a:r>
              <a:t>• 起始：2007年 Q2</a:t>
            </a:r>
          </a:p>
          <a:p>
            <a:pPr>
              <a:spcAft>
                <a:spcPts val="800"/>
              </a:spcAft>
              <a:defRPr sz="1600">
                <a:solidFill>
                  <a:srgbClr val="343434"/>
                </a:solidFill>
              </a:defRPr>
            </a:pPr>
            <a:r>
              <a:t>• 终止：2018年 Q4</a:t>
            </a:r>
          </a:p>
          <a:p>
            <a:pPr>
              <a:spcAft>
                <a:spcPts val="800"/>
              </a:spcAft>
              <a:defRPr sz="1600">
                <a:solidFill>
                  <a:srgbClr val="343434"/>
                </a:solidFill>
              </a:defRPr>
            </a:pPr>
            <a:r>
              <a:t>• 共 47 个季度时间点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方法四：控制变量分析（核心创新）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🤔 问题：州贫困率与违约率相关，是因为贫困州的人信用分本来就低吗？</a:t>
            </a: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💡 解决思路：计算「残差违约率」——剔除其他因素影响后，剩余的违约率变异</a:t>
            </a: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📐 分析步骤：</a:t>
            </a: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   Step 1: 建立利率 → 违约率的 Logistic 回归模型</a:t>
            </a: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   Step 2: 预测每个州的「预期违约率」（基于该州平均利率）</a:t>
            </a: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   Step 3: 计算残差 = 实际违约率 - 预期违约率</a:t>
            </a: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   Step 4: 分析残差与贫困率的相关性</a:t>
            </a: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📊 结果：</a:t>
            </a: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   • 原始相关（贫困率 vs 违约率）：r = 0.398</a:t>
            </a: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   • 控制利率后（残差 vs 贫困率）：r = 0.362</a:t>
            </a: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   • 控制FICO后（残差 vs 贫困率）：r = 0.459</a:t>
            </a: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✅ 结论：地区经济有独立于个人特征的解释力！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646E96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743200"/>
            <a:ext cx="7159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核心发现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3840480"/>
            <a:ext cx="71597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9E795"/>
                </a:solidFill>
              </a:defRPr>
            </a:pPr>
            <a:r>
              <a:t>Key Findings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</a:defRPr>
            </a:pPr>
            <a:r>
              <a:t>发现一：贷款等级强区分违约风险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486400" cy="4114800"/>
          </a:xfrm>
          <a:prstGeom prst="rect">
            <a:avLst/>
          </a:prstGeom>
          <a:solidFill>
            <a:srgbClr val="F8F9FA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29260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08080"/>
                </a:solidFill>
              </a:defRPr>
            </a:pPr>
            <a:r>
              <a:t>[图表占位]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43434"/>
                </a:solidFill>
              </a:defRPr>
            </a:pPr>
            <a:r>
              <a:t>📈 数据：</a:t>
            </a:r>
          </a:p>
          <a:p>
            <a:pPr>
              <a:spcAft>
                <a:spcPts val="1000"/>
              </a:spcAft>
              <a:defRPr sz="1600">
                <a:solidFill>
                  <a:srgbClr val="343434"/>
                </a:solidFill>
              </a:defRPr>
            </a:pPr>
            <a:r>
              <a:t>   A 等级违约率：6.57%</a:t>
            </a:r>
          </a:p>
          <a:p>
            <a:pPr>
              <a:spcAft>
                <a:spcPts val="1000"/>
              </a:spcAft>
              <a:defRPr sz="1600">
                <a:solidFill>
                  <a:srgbClr val="343434"/>
                </a:solidFill>
              </a:defRPr>
            </a:pPr>
            <a:r>
              <a:t>   G 等级违约率：51.57%</a:t>
            </a:r>
          </a:p>
          <a:p>
            <a:pPr>
              <a:spcAft>
                <a:spcPts val="1000"/>
              </a:spcAft>
              <a:defRPr sz="1600">
                <a:solidFill>
                  <a:srgbClr val="343434"/>
                </a:solidFill>
              </a:defRPr>
            </a:pPr>
            <a:r>
              <a:t>   相差：8 倍！</a:t>
            </a:r>
          </a:p>
          <a:p>
            <a:pPr>
              <a:spcAft>
                <a:spcPts val="1000"/>
              </a:spcAft>
              <a:defRPr sz="1600">
                <a:solidFill>
                  <a:srgbClr val="343434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343434"/>
                </a:solidFill>
              </a:defRPr>
            </a:pPr>
            <a:r>
              <a:t>💡 意义：</a:t>
            </a:r>
          </a:p>
          <a:p>
            <a:pPr>
              <a:spcAft>
                <a:spcPts val="1000"/>
              </a:spcAft>
              <a:defRPr sz="1600">
                <a:solidFill>
                  <a:srgbClr val="343434"/>
                </a:solidFill>
              </a:defRPr>
            </a:pPr>
            <a:r>
              <a:t>   • Lending Club 的风险定价体系是有效的</a:t>
            </a:r>
          </a:p>
          <a:p>
            <a:pPr>
              <a:spcAft>
                <a:spcPts val="1000"/>
              </a:spcAft>
              <a:defRPr sz="1600">
                <a:solidFill>
                  <a:srgbClr val="343434"/>
                </a:solidFill>
              </a:defRPr>
            </a:pPr>
            <a:r>
              <a:t>   • 等级将成为后续分析的重要控制变量</a:t>
            </a:r>
          </a:p>
          <a:p>
            <a:pPr>
              <a:spcAft>
                <a:spcPts val="1000"/>
              </a:spcAft>
              <a:defRPr sz="1600">
                <a:solidFill>
                  <a:srgbClr val="343434"/>
                </a:solidFill>
              </a:defRPr>
            </a:pPr>
            <a:r>
              <a:t>   • 说明个人特征仍然是强风险因子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</a:defRPr>
            </a:pPr>
            <a:r>
              <a:t>发现二：利率与违约率高度相关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486400" cy="4114800"/>
          </a:xfrm>
          <a:prstGeom prst="rect">
            <a:avLst/>
          </a:prstGeom>
          <a:solidFill>
            <a:srgbClr val="F8F9FA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29260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08080"/>
                </a:solidFill>
              </a:defRPr>
            </a:pPr>
            <a:r>
              <a:t>[图表占位]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43434"/>
                </a:solidFill>
              </a:defRPr>
            </a:pPr>
            <a:r>
              <a:t>📈 数据：</a:t>
            </a:r>
          </a:p>
          <a:p>
            <a:pPr>
              <a:spcAft>
                <a:spcPts val="1000"/>
              </a:spcAft>
              <a:defRPr sz="1600">
                <a:solidFill>
                  <a:srgbClr val="343434"/>
                </a:solidFill>
              </a:defRPr>
            </a:pPr>
            <a:r>
              <a:t>   低利率（&lt;8%）违约率：6.38%</a:t>
            </a:r>
          </a:p>
          <a:p>
            <a:pPr>
              <a:spcAft>
                <a:spcPts val="1000"/>
              </a:spcAft>
              <a:defRPr sz="1600">
                <a:solidFill>
                  <a:srgbClr val="343434"/>
                </a:solidFill>
              </a:defRPr>
            </a:pPr>
            <a:r>
              <a:t>   高利率（≥24%）违约率：48.56%</a:t>
            </a:r>
          </a:p>
          <a:p>
            <a:pPr>
              <a:spcAft>
                <a:spcPts val="1000"/>
              </a:spcAft>
              <a:defRPr sz="1600">
                <a:solidFill>
                  <a:srgbClr val="343434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343434"/>
                </a:solidFill>
              </a:defRPr>
            </a:pPr>
            <a:r>
              <a:t>💡 意义：</a:t>
            </a:r>
          </a:p>
          <a:p>
            <a:pPr>
              <a:spcAft>
                <a:spcPts val="1000"/>
              </a:spcAft>
              <a:defRPr sz="1600">
                <a:solidFill>
                  <a:srgbClr val="343434"/>
                </a:solidFill>
              </a:defRPr>
            </a:pPr>
            <a:r>
              <a:t>   • 平台定价已经包含了风险判断</a:t>
            </a:r>
          </a:p>
          <a:p>
            <a:pPr>
              <a:spcAft>
                <a:spcPts val="1000"/>
              </a:spcAft>
              <a:defRPr sz="1600">
                <a:solidFill>
                  <a:srgbClr val="343434"/>
                </a:solidFill>
              </a:defRPr>
            </a:pPr>
            <a:r>
              <a:t>   • 高利率贷款仍然呈现明显违约集中</a:t>
            </a:r>
          </a:p>
          <a:p>
            <a:pPr>
              <a:spcAft>
                <a:spcPts val="1000"/>
              </a:spcAft>
              <a:defRPr sz="1600">
                <a:solidFill>
                  <a:srgbClr val="343434"/>
                </a:solidFill>
              </a:defRPr>
            </a:pPr>
            <a:r>
              <a:t>   • 后续分析地区/宏观变量时，必须控制利率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</a:defRPr>
            </a:pPr>
            <a:r>
              <a:t>发现三：宏观金融环境与违约率高度相关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486400" cy="4114800"/>
          </a:xfrm>
          <a:prstGeom prst="rect">
            <a:avLst/>
          </a:prstGeom>
          <a:solidFill>
            <a:srgbClr val="F8F9FA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29260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08080"/>
                </a:solidFill>
              </a:defRPr>
            </a:pPr>
            <a:r>
              <a:t>[图表占位]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43434"/>
                </a:solidFill>
              </a:defRPr>
            </a:pPr>
            <a:r>
              <a:t>📈 数据：</a:t>
            </a:r>
          </a:p>
          <a:p>
            <a:pPr>
              <a:spcAft>
                <a:spcPts val="1000"/>
              </a:spcAft>
              <a:defRPr sz="1600">
                <a:solidFill>
                  <a:srgbClr val="343434"/>
                </a:solidFill>
              </a:defRPr>
            </a:pPr>
            <a:r>
              <a:t>   联邦基金利率与违约率的季度相关系数：0.844</a:t>
            </a:r>
          </a:p>
          <a:p>
            <a:pPr>
              <a:spcAft>
                <a:spcPts val="1000"/>
              </a:spcAft>
              <a:defRPr sz="1600">
                <a:solidFill>
                  <a:srgbClr val="343434"/>
                </a:solidFill>
              </a:defRPr>
            </a:pPr>
            <a:r>
              <a:t>   这是一个非常高的相关性</a:t>
            </a:r>
          </a:p>
          <a:p>
            <a:pPr>
              <a:spcAft>
                <a:spcPts val="1000"/>
              </a:spcAft>
              <a:defRPr sz="1600">
                <a:solidFill>
                  <a:srgbClr val="343434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343434"/>
                </a:solidFill>
              </a:defRPr>
            </a:pPr>
            <a:r>
              <a:t>⚠️ 诚实说明：</a:t>
            </a:r>
          </a:p>
          <a:p>
            <a:pPr>
              <a:spcAft>
                <a:spcPts val="1000"/>
              </a:spcAft>
              <a:defRPr sz="1600">
                <a:solidFill>
                  <a:srgbClr val="343434"/>
                </a:solidFill>
              </a:defRPr>
            </a:pPr>
            <a:r>
              <a:t>   • 这是相关性分析，不能简单解释为因果关系</a:t>
            </a:r>
          </a:p>
          <a:p>
            <a:pPr>
              <a:spcAft>
                <a:spcPts val="1000"/>
              </a:spcAft>
              <a:defRPr sz="1600">
                <a:solidFill>
                  <a:srgbClr val="343434"/>
                </a:solidFill>
              </a:defRPr>
            </a:pPr>
            <a:r>
              <a:t>   • 可能是利率上升导致违约率上升</a:t>
            </a:r>
          </a:p>
          <a:p>
            <a:pPr>
              <a:spcAft>
                <a:spcPts val="1000"/>
              </a:spcAft>
              <a:defRPr sz="1600">
                <a:solidFill>
                  <a:srgbClr val="343434"/>
                </a:solidFill>
              </a:defRPr>
            </a:pPr>
            <a:r>
              <a:t>   • 也可能是经济不好导致两者同时上升</a:t>
            </a:r>
          </a:p>
          <a:p>
            <a:pPr>
              <a:spcAft>
                <a:spcPts val="1000"/>
              </a:spcAft>
              <a:defRPr sz="1600">
                <a:solidFill>
                  <a:srgbClr val="343434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343434"/>
                </a:solidFill>
              </a:defRPr>
            </a:pPr>
            <a:r>
              <a:t>💡 意义：</a:t>
            </a:r>
          </a:p>
          <a:p>
            <a:pPr>
              <a:spcAft>
                <a:spcPts val="1000"/>
              </a:spcAft>
              <a:defRPr sz="1600">
                <a:solidFill>
                  <a:srgbClr val="343434"/>
                </a:solidFill>
              </a:defRPr>
            </a:pPr>
            <a:r>
              <a:t>   • 宏观环境值得纳入风险分析框架</a:t>
            </a:r>
          </a:p>
          <a:p>
            <a:pPr>
              <a:spcAft>
                <a:spcPts val="1000"/>
              </a:spcAft>
              <a:defRPr sz="1600">
                <a:solidFill>
                  <a:srgbClr val="343434"/>
                </a:solidFill>
              </a:defRPr>
            </a:pPr>
            <a:r>
              <a:t>   • 为下一阶段因果推断奠定基础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</a:defRPr>
            </a:pPr>
            <a:r>
              <a:t>发现四：地区经济有独立解释力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486400" cy="4114800"/>
          </a:xfrm>
          <a:prstGeom prst="rect">
            <a:avLst/>
          </a:prstGeom>
          <a:solidFill>
            <a:srgbClr val="F8F9FA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29260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08080"/>
                </a:solidFill>
              </a:defRPr>
            </a:pPr>
            <a:r>
              <a:t>[图表占位]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43434"/>
                </a:solidFill>
              </a:defRPr>
            </a:pPr>
            <a:r>
              <a:t>📈 控制变量分析结果：</a:t>
            </a:r>
          </a:p>
          <a:p>
            <a:pPr>
              <a:spcAft>
                <a:spcPts val="1000"/>
              </a:spcAft>
              <a:defRPr sz="1600">
                <a:solidFill>
                  <a:srgbClr val="343434"/>
                </a:solidFill>
              </a:defRPr>
            </a:pPr>
            <a:r>
              <a:t>   原始相关：r = 0.398</a:t>
            </a:r>
          </a:p>
          <a:p>
            <a:pPr>
              <a:spcAft>
                <a:spcPts val="1000"/>
              </a:spcAft>
              <a:defRPr sz="1600">
                <a:solidFill>
                  <a:srgbClr val="343434"/>
                </a:solidFill>
              </a:defRPr>
            </a:pPr>
            <a:r>
              <a:t>   控制利率后：r = 0.362  ← 仍然显著！</a:t>
            </a:r>
          </a:p>
          <a:p>
            <a:pPr>
              <a:spcAft>
                <a:spcPts val="1000"/>
              </a:spcAft>
              <a:defRPr sz="1600">
                <a:solidFill>
                  <a:srgbClr val="343434"/>
                </a:solidFill>
              </a:defRPr>
            </a:pPr>
            <a:r>
              <a:t>   控制FICO后：r = 0.459  ← 相关性更强！</a:t>
            </a:r>
          </a:p>
          <a:p>
            <a:pPr>
              <a:spcAft>
                <a:spcPts val="1000"/>
              </a:spcAft>
              <a:defRPr sz="1600">
                <a:solidFill>
                  <a:srgbClr val="343434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343434"/>
                </a:solidFill>
              </a:defRPr>
            </a:pPr>
            <a:r>
              <a:t>🎯 核心发现：</a:t>
            </a:r>
          </a:p>
          <a:p>
            <a:pPr>
              <a:spcAft>
                <a:spcPts val="1000"/>
              </a:spcAft>
              <a:defRPr sz="1600">
                <a:solidFill>
                  <a:srgbClr val="343434"/>
                </a:solidFill>
              </a:defRPr>
            </a:pPr>
            <a:r>
              <a:t>   • 即使两个人信用评分相同、利率相同</a:t>
            </a:r>
          </a:p>
          <a:p>
            <a:pPr>
              <a:spcAft>
                <a:spcPts val="1000"/>
              </a:spcAft>
              <a:defRPr sz="1600">
                <a:solidFill>
                  <a:srgbClr val="343434"/>
                </a:solidFill>
              </a:defRPr>
            </a:pPr>
            <a:r>
              <a:t>   • 生活在贫困率更高的州，违约风险仍然更高</a:t>
            </a:r>
          </a:p>
          <a:p>
            <a:pPr>
              <a:spcAft>
                <a:spcPts val="1000"/>
              </a:spcAft>
              <a:defRPr sz="1600">
                <a:solidFill>
                  <a:srgbClr val="343434"/>
                </a:solidFill>
              </a:defRPr>
            </a:pPr>
            <a:r>
              <a:t>   • 地区经济有独立于个人特征的解释力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</a:defRPr>
            </a:pPr>
            <a:r>
              <a:t>发现五：组合风险分层识别高风险人群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486400" cy="4114800"/>
          </a:xfrm>
          <a:prstGeom prst="rect">
            <a:avLst/>
          </a:prstGeom>
          <a:solidFill>
            <a:srgbClr val="F8F9FA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29260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08080"/>
                </a:solidFill>
              </a:defRPr>
            </a:pPr>
            <a:r>
              <a:t>[图表占位]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43434"/>
                </a:solidFill>
              </a:defRPr>
            </a:pPr>
            <a:r>
              <a:t>🎯 最高风险组合（样本量&gt;100）：</a:t>
            </a:r>
          </a:p>
          <a:p>
            <a:pPr>
              <a:spcAft>
                <a:spcPts val="1000"/>
              </a:spcAft>
              <a:defRPr sz="1600">
                <a:solidFill>
                  <a:srgbClr val="343434"/>
                </a:solidFill>
              </a:defRPr>
            </a:pPr>
            <a:r>
              <a:t>   G等级 × debt_consolidation：52.99%</a:t>
            </a:r>
          </a:p>
          <a:p>
            <a:pPr>
              <a:spcAft>
                <a:spcPts val="1000"/>
              </a:spcAft>
              <a:defRPr sz="1600">
                <a:solidFill>
                  <a:srgbClr val="343434"/>
                </a:solidFill>
              </a:defRPr>
            </a:pPr>
            <a:r>
              <a:t>   G等级 × 60个月期：51.64%</a:t>
            </a:r>
          </a:p>
          <a:p>
            <a:pPr>
              <a:spcAft>
                <a:spcPts val="1000"/>
              </a:spcAft>
              <a:defRPr sz="1600">
                <a:solidFill>
                  <a:srgbClr val="343434"/>
                </a:solidFill>
              </a:defRPr>
            </a:pPr>
            <a:r>
              <a:t>   G等级 × medical：51.43%</a:t>
            </a:r>
          </a:p>
          <a:p>
            <a:pPr>
              <a:spcAft>
                <a:spcPts val="1000"/>
              </a:spcAft>
              <a:defRPr sz="1600">
                <a:solidFill>
                  <a:srgbClr val="343434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343434"/>
                </a:solidFill>
              </a:defRPr>
            </a:pPr>
            <a:r>
              <a:t>💡 实际意义：</a:t>
            </a:r>
          </a:p>
          <a:p>
            <a:pPr>
              <a:spcAft>
                <a:spcPts val="1000"/>
              </a:spcAft>
              <a:defRPr sz="1600">
                <a:solidFill>
                  <a:srgbClr val="343434"/>
                </a:solidFill>
              </a:defRPr>
            </a:pPr>
            <a:r>
              <a:t>   • 每两笔这样的贷款，就有一笔会违约</a:t>
            </a:r>
          </a:p>
          <a:p>
            <a:pPr>
              <a:spcAft>
                <a:spcPts val="1000"/>
              </a:spcAft>
              <a:defRPr sz="1600">
                <a:solidFill>
                  <a:srgbClr val="343434"/>
                </a:solidFill>
              </a:defRPr>
            </a:pPr>
            <a:r>
              <a:t>   • 风控部门可直接识别这些高风险组合</a:t>
            </a:r>
          </a:p>
          <a:p>
            <a:pPr>
              <a:spcAft>
                <a:spcPts val="1000"/>
              </a:spcAft>
              <a:defRPr sz="1600">
                <a:solidFill>
                  <a:srgbClr val="343434"/>
                </a:solidFill>
              </a:defRPr>
            </a:pPr>
            <a:r>
              <a:t>   • 组合维度比单一变量更精确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646E96"/>
                </a:solidFill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743200"/>
            <a:ext cx="7159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项目进度与后续计划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3840480"/>
            <a:ext cx="71597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9E795"/>
                </a:solidFill>
              </a:defRPr>
            </a:pPr>
            <a:r>
              <a:t>Progress &amp; Future Work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</a:defRPr>
            </a:pPr>
            <a:r>
              <a:t>项目时间线（2024年4月 - 6月）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43434"/>
                </a:solidFill>
                <a:latin typeface="Courier New"/>
              </a:defRPr>
            </a:pPr>
            <a:r>
              <a:t>阶段                    时间                      状态</a:t>
            </a:r>
          </a:p>
          <a:p>
            <a:r>
              <a:t>══════════════════════════════════════════════════════════════════</a:t>
            </a:r>
          </a:p>
          <a:p>
            <a:r>
              <a:t>开题与问题定义           4/20 – 4/30               ✅ 完成</a:t>
            </a:r>
          </a:p>
          <a:p>
            <a:r>
              <a:t>项目仓库与数据说明       5/15 – 5/18               ✅ 完成</a:t>
            </a:r>
          </a:p>
          <a:p>
            <a:r>
              <a:t>Lending Club EDA         5/18 – 5/19               ✅ 完成</a:t>
            </a:r>
          </a:p>
          <a:p>
            <a:r>
              <a:t>FRED/ERS 数据融合        5/19 – 5/20               ✅ 完成</a:t>
            </a:r>
          </a:p>
          <a:p>
            <a:r>
              <a:t>风险分层分析             5/20                      ✅ 完成</a:t>
            </a:r>
          </a:p>
          <a:p>
            <a:r>
              <a:t>Home Credit 数据下载     5/20                      ✅ 完成 ← 我们在这里</a:t>
            </a:r>
          </a:p>
          <a:p>
            <a:r>
              <a:t>══════════════════════════════════════════════════════════════════</a:t>
            </a:r>
          </a:p>
          <a:p>
            <a:r>
              <a:t>控制变量建模             5/21 – 5/27               🔄 进行中</a:t>
            </a:r>
          </a:p>
          <a:p>
            <a:r>
              <a:t>最终可视化               5/27 – 6/3                ⏳ 计划中</a:t>
            </a:r>
          </a:p>
          <a:p>
            <a:r>
              <a:t>最终报告与答辩           6/3 – 6/17                ⏳ 计划中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</a:defRPr>
            </a:pPr>
            <a:r>
              <a:t>风险管理与备选方案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13716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风险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潜在影响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备选方案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43434"/>
                          </a:solidFill>
                        </a:defRPr>
                      </a:pPr>
                      <a:r>
                        <a:t>Home Credit 需要网页授权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343434"/>
                          </a:solidFill>
                        </a:defRPr>
                      </a:pPr>
                      <a:r>
                        <a:t>数据可能无法获取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343434"/>
                          </a:solidFill>
                        </a:defRPr>
                      </a:pPr>
                      <a:r>
                        <a:t>已有LC+FRED+ERS主线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343434"/>
                          </a:solidFill>
                        </a:defRPr>
                      </a:pPr>
                      <a:r>
                        <a:t>✅ 已解决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43434"/>
                          </a:solidFill>
                        </a:defRPr>
                      </a:pPr>
                      <a:r>
                        <a:t>相关性 ≠ 因果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343434"/>
                          </a:solidFill>
                        </a:defRPr>
                      </a:pPr>
                      <a:r>
                        <a:t>解释力度有限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343434"/>
                          </a:solidFill>
                        </a:defRPr>
                      </a:pPr>
                      <a:r>
                        <a:t>加入控制变量模型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343434"/>
                          </a:solidFill>
                        </a:defRPr>
                      </a:pPr>
                      <a:r>
                        <a:t>🔄 进行中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43434"/>
                          </a:solidFill>
                        </a:defRPr>
                      </a:pPr>
                      <a:r>
                        <a:t>时间紧张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343434"/>
                          </a:solidFill>
                        </a:defRPr>
                      </a:pPr>
                      <a:r>
                        <a:t>建模可能简化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343434"/>
                          </a:solidFill>
                        </a:defRPr>
                      </a:pPr>
                      <a:r>
                        <a:t>保证多源分析完整性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343434"/>
                          </a:solidFill>
                        </a:defRPr>
                      </a:pPr>
                      <a:r>
                        <a:t>📋 备用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43434"/>
                          </a:solidFill>
                        </a:defRPr>
                      </a:pPr>
                      <a:r>
                        <a:t>多源变量提升不显著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343434"/>
                          </a:solidFill>
                        </a:defRPr>
                      </a:pPr>
                      <a:r>
                        <a:t>结论不够强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343434"/>
                          </a:solidFill>
                        </a:defRPr>
                      </a:pPr>
                      <a:r>
                        <a:t>强调方法论价值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343434"/>
                          </a:solidFill>
                        </a:defRPr>
                      </a:pPr>
                      <a:r>
                        <a:t>📋 备用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总结：核心发现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✅ 发现一：贷款等级是强风险分层工具</a:t>
            </a: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   A等级违约率 6.57% → G等级 51.57%，相差 8 倍</a:t>
            </a: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✅ 发现二：宏观金融环境与违约率高度相关</a:t>
            </a: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   联邦基金利率季度相关系数 0.844</a:t>
            </a: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✅ 发现三：地区经济有独立解释力</a:t>
            </a: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   控制贷款结构后，贫困率仍相关 0.362</a:t>
            </a: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✅ 发现四：多源融合能精确识别高风险人群</a:t>
            </a: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   G × debt_consolidation 违约率 52.99%</a:t>
            </a: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🎯 核心贡献：完成了从个人、地区到宏观的三层数据分析</a:t>
            </a:r>
          </a:p>
          <a:p>
            <a:pPr>
              <a:spcAft>
                <a:spcPts val="1200"/>
              </a:spcAft>
              <a:defRPr sz="1800">
                <a:solidFill>
                  <a:srgbClr val="343434"/>
                </a:solidFill>
              </a:defRPr>
            </a:pPr>
            <a:r>
              <a:t>   证明了违约风险不只是个人问题，也受环境和周期影响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Questions &amp;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9E795"/>
                </a:solidFill>
              </a:defRPr>
            </a:pPr>
            <a:r>
              <a:t>感谢聆听 | Thank You | GitHub: Epiphanythu/ai-data-foundation-project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