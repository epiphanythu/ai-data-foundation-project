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AI 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基于多源数据的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BBF24"/>
                </a:solidFill>
              </a:defRPr>
            </a:pPr>
            <a:r>
              <a:t>个人贷款违约风险检测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融合 Lending Club · FRED 宏观 · USDA ERS 州级数据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2103120" cy="109728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425196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226万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8006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贷款记录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114800"/>
            <a:ext cx="2103120" cy="109728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425196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21.27%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8006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违约率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114800"/>
            <a:ext cx="2103120" cy="10972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25196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006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季度数据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114800"/>
            <a:ext cx="2103120" cy="1097280"/>
          </a:xfrm>
          <a:prstGeom prst="roundRect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425196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48006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州覆盖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2026.05.21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2855"/>
                </a:solidFill>
              </a:defRPr>
            </a:pPr>
            <a:r>
              <a:t>违约风险同时受个体、地区与宏观环境三重影响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" cy="201168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个体层面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042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贷款等级 A→G</a:t>
            </a:r>
            <a:br/>
            <a:r>
              <a:t>违约率 6.57%→51.57%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109728" cy="20116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938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地区层面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3042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贫困率与违约相关 0.398</a:t>
            </a:r>
            <a:br/>
            <a:r>
              <a:t>控制利率后仍显著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28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109728" cy="201168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1" y="1938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6167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宏观层面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30428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联邦基金利率相关 0.844</a:t>
            </a:r>
            <a:br/>
            <a:r>
              <a:t>47个季度捕捉周期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389120"/>
            <a:ext cx="8503920" cy="1097280"/>
          </a:xfrm>
          <a:prstGeom prst="roundRect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754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违约风险 = 个体特征 + 地区经济 + 宏观周期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数据资产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855"/>
                </a:solidFill>
              </a:defRPr>
            </a:pPr>
            <a:r>
              <a:t>三源数据已在个人、州级、季度层面完成融合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数据源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645920"/>
            <a:ext cx="1828800" cy="457200"/>
          </a:xfrm>
          <a:prstGeom prst="rect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737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记录数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645920"/>
            <a:ext cx="1371600" cy="457200"/>
          </a:xfrm>
          <a:prstGeom prst="rect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变量数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645920"/>
            <a:ext cx="1371600" cy="457200"/>
          </a:xfrm>
          <a:prstGeom prst="rect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粒度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488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Lending 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488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2,260,701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148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151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48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个人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06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FRED 宏观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606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季度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0632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USDA 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0632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0632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0632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州级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融合成果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1,367,578 已完结样本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50 州完整匹配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47 季度时间序列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州+季度双重聚合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融合方法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标签定义：Fully Paid(0) / Charged Off+Default(1)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州级聚合：按 addr_state 计算违约率、平均利率、FICO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季度聚合：按 issue_quarter 与 FRED 指标对齐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发现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55"/>
                </a:solidFill>
              </a:defRPr>
            </a:pPr>
            <a:r>
              <a:t>贷款等级强区分风险：从 A 等级 6.57% 到 G 等级 51.57%</a:t>
            </a:r>
          </a:p>
        </p:txBody>
      </p:sp>
      <p:pic>
        <p:nvPicPr>
          <p:cNvPr id="5" name="Picture 4" descr="lc_default_rate_by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29169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463040"/>
            <a:ext cx="2286000" cy="9144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6.57%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 等级违约率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463040"/>
            <a:ext cx="2286000" cy="91440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51.57%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 等级违约率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核心发现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26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等级梯度明显：每升一级违约率增加 7-9 个百分点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平台风险定价有效，等级与利率高度相关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为多源分析提供重要的基准控制变量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</a:defRPr>
            </a:pPr>
            <a:r>
              <a:t>来源：Lending Club accepted loans (2007-2018), N=1,367,578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发现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55"/>
                </a:solidFill>
              </a:defRPr>
            </a:pPr>
            <a:r>
              <a:t>利率与违约率高度相关：高风险贷款呈现明显违约集中</a:t>
            </a:r>
          </a:p>
        </p:txBody>
      </p:sp>
      <p:pic>
        <p:nvPicPr>
          <p:cNvPr id="5" name="Picture 4" descr="lc_default_rate_by_interest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29169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463040"/>
            <a:ext cx="2103120" cy="82296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6.38%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&lt;8% 违约率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40"/>
            <a:ext cx="2103120" cy="82296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6002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48.56%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14884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≥24% 违约率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核心发现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利率已包含平台风险判断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高利率贷款仍集中违约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后续分析需控制利率以评估外部变量增量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</a:defRPr>
            </a:pPr>
            <a:r>
              <a:t>来源：Lending Club 按利率分箱统计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6167"/>
                </a:solidFill>
              </a:defRPr>
            </a:pPr>
            <a:r>
              <a:t>发现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855"/>
                </a:solidFill>
              </a:defRPr>
            </a:pPr>
            <a:r>
              <a:t>宏观金融环境与违约率高度相关：联邦基金利率季度相关系数 0.844</a:t>
            </a:r>
          </a:p>
        </p:txBody>
      </p:sp>
      <p:pic>
        <p:nvPicPr>
          <p:cNvPr id="5" name="Picture 4" descr="lc_fred_quarterly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463040"/>
            <a:ext cx="2011680" cy="82296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0.844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季度相关系数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2011680" cy="82296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00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季度时间点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核心发现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47个季度捕捉完整金融周期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联邦基金利率与违约率高度相关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宏观变量值得纳入风险分析框架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</a:defRPr>
            </a:pPr>
            <a:r>
              <a:t>来源：Lending Club 季度违约率 × FRED 季度宏观指标 (2007-2018)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发现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55"/>
                </a:solidFill>
              </a:defRPr>
            </a:pPr>
            <a:r>
              <a:t>地区经济变量在控制贷款结构后仍有解释力</a:t>
            </a:r>
          </a:p>
        </p:txBody>
      </p:sp>
      <p:pic>
        <p:nvPicPr>
          <p:cNvPr id="5" name="Picture 4" descr="lc_state_default_residual_interest_vs_pove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2916936"/>
          </a:xfrm>
          <a:prstGeom prst="rect">
            <a:avLst/>
          </a:prstGeom>
        </p:spPr>
      </p:pic>
      <p:pic>
        <p:nvPicPr>
          <p:cNvPr id="6" name="Picture 5" descr="lc_state_default_residual_fico_vs_pove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5029200" cy="2916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关键数据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原始相关：r = 0.398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控制利率后：r = 0.362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控制 FICO 后：r = 0.459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核心发现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474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贫困率与违约率正相关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840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控制平均利率后相关性仍显著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地区经济有独立于个体特征的解释力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50 个州完整匹配分析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</a:defRPr>
            </a:pPr>
            <a:r>
              <a:t>来源：Lending Club × USDA ERS (50 州匹配)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6167"/>
                </a:solidFill>
              </a:defRPr>
            </a:pPr>
            <a:r>
              <a:t>发现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55"/>
                </a:solidFill>
              </a:defRPr>
            </a:pPr>
            <a:r>
              <a:t>组合风险分层能精确识别高风险人群</a:t>
            </a:r>
          </a:p>
        </p:txBody>
      </p:sp>
      <p:pic>
        <p:nvPicPr>
          <p:cNvPr id="5" name="Picture 4" descr="lc_top_risk_grade_purpose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463040"/>
            <a:ext cx="2103120" cy="82296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52.99%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G×debt_consolidation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2103120" cy="822960"/>
          </a:xfrm>
          <a:prstGeom prst="round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002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51.64%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G×60months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87"/>
                </a:solidFill>
              </a:defRPr>
            </a:pPr>
            <a:r>
              <a:t>核心发现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组合维度比单一变量更精确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G×debt_consolidation 违约率 52.99%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• 可直接用于精准识别和定价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</a:defRPr>
            </a:pPr>
            <a:r>
              <a:t>来源：Lending Club 组合风险分层分析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方法论价值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2855"/>
                </a:solidFill>
              </a:defRPr>
            </a:pPr>
            <a:r>
              <a:t>多源融合证明了什么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个人变量有效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等级梯度明显，是基准控制变量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971800"/>
            <a:ext cx="640080" cy="640080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26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地区变量独立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918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控制贷款结构后仍显著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114800"/>
            <a:ext cx="640080" cy="640080"/>
          </a:xfrm>
          <a:prstGeom prst="ellipse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宏观变量相关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联邦基金利率相关 0.844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7492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5257800"/>
            <a:ext cx="640080" cy="64008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303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87"/>
                </a:solidFill>
              </a:defRPr>
            </a:pPr>
            <a:r>
              <a:t>组合更精确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可识别高风险人群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E40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828800" cy="36576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贷款等级是强风险分层工具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</a:defRPr>
            </a:pPr>
            <a:r>
              <a:t>A 等级违约率 6.57%，G 等级 51.57%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宏观环境与违约率高度相关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</a:defRPr>
            </a:pPr>
            <a:r>
              <a:t>联邦基金利率季度相关 0.844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地区经济有独立解释力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03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</a:defRPr>
            </a:pPr>
            <a:r>
              <a:t>控制贷款结构后贫困率仍相关 0.362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多源融合能识别高风险人群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</a:defRPr>
            </a:pPr>
            <a:r>
              <a:t>G×debt_consolidation 违约率 52.99%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BF24"/>
                </a:solidFill>
              </a:defRPr>
            </a:pPr>
            <a:r>
              <a:t>Questions &amp;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项目代码 | 数据与图表 | outputs/ 目录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